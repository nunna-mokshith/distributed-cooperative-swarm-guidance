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(1 minute): Good morning Professor. Today I am presenting Distributed Cooperative Swarm Guidance using Graph Attention Networks and Multi-Agent Reinforcement Learning. We are addressing the core multi-agent challenge: how a supersonic swarm of autonomous missiles can coordinate target selection without a central commander, preventing greedy saturation overkill.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Script: In multi-agent systems, if agents optimize selfishly, they suffer from Greedy Homogeneous Collapse. If one target has higher reward, all agents saturate that single target. Classical combinatorial algorithms like MILP take up to 5 seconds, which is 500 times too slow for a 10ms missile flight computer cycle. This is why a learned, distributed policy is essential.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Script: We rigorously model the system as a Dec-POMDP. Missiles only have local observations. We monitor the algebraic connectivity via the Graph Laplacian Fiedler value lambda_2(L) = 4.0, guaranteeing communication consensus. Furthermore, we decouple high-level ML target allocation from low-level classical Proportional Navigation to preserve deterministic flight stability.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Script: Why GAT instead of standard MLPs? MLPs require fixed input dimensions and fail if a missile is destroyed. GAT provides permutation equivariance. By adding a residual self-connection, we prevent the classic GNN over-smoothing problem. In our benchmarks, dynamic attrition resizing N=4 to 3 runs in just 0.58 ms.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Script: The engine uses Centralized Training with Decentralized Execution. The centralized critic eliminates non-stationarity during training. The multi-objective reward applies an asymmetric penalty for duplicate target assignments. The policy gradient forcefully drives probability mass toward full target dispersion without any human-crafted heuristic rules.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Script: Here is our primary empirical ML result. On the left, untrained agents collapse on T0. On the right, after training, the agents bifurcate cleanly. Missiles 0 and 3 attack the radar, missile 1 attacks the fuel depot, and missile 2 attacks the command bunker, achieving 100% coverage and zero target neglect.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Script: We validate the ML target outputs inside a high-fidelity 100 Hz non-holonomic physics simulation. Panel 1 shows physical trajectory bifurcation. Panel 2 shows inter-agent separation never violates the 200m safety bubble. Panel 3 proves algebraic connectivity lambda_2(L) is preserved. Panel 4 confirms autopilot fin commands stay under 12G.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Script: To conclude, our hybrid architecture delivers sub-meter accuracy (0.892m) and sub-3 millisecond neural inference, adapting instantly to agent attrition. All code, including the minimal GAT PyTorch implementation and the Google Colab notebook, is live and public on GitHub. Thank you Professor, I am now ready for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645920"/>
            <a:ext cx="10332720" cy="3200400"/>
          </a:xfrm>
          <a:prstGeom prst="rect">
            <a:avLst/>
          </a:prstGeom>
          <a:noFill/>
        </p:spPr>
        <p:txBody>
          <a:bodyPr wrap="square">
            <a:spAutoFit/>
          </a:bodyPr>
          <a:lstStyle/>
          <a:p>
            <a:pPr>
              <a:defRPr sz="1300" b="1">
                <a:solidFill>
                  <a:srgbClr val="38BDF8"/>
                </a:solidFill>
              </a:defRPr>
            </a:pPr>
            <a:r>
              <a:t>AUTONOMOUS MULTI-AGENT SYSTEMS &amp; MACHINE LEARNING THEORY</a:t>
            </a:r>
          </a:p>
          <a:p>
            <a:pPr>
              <a:defRPr sz="3800" b="1">
                <a:solidFill>
                  <a:srgbClr val="F1F5F9"/>
                </a:solidFill>
              </a:defRPr>
            </a:pPr>
            <a:r>
              <a:t>Distributed Cooperative Swarm Guidance (DCSG)</a:t>
            </a:r>
          </a:p>
          <a:p>
            <a:pPr>
              <a:defRPr sz="2000">
                <a:solidFill>
                  <a:srgbClr val="22C55E"/>
                </a:solidFill>
              </a:defRPr>
            </a:pPr>
            <a:r>
              <a:t>Dynamic Weapon-Target Allocation via Graph Attention Networks (GAT) &amp; Multi-Agent PPO</a:t>
            </a:r>
          </a:p>
          <a:p>
            <a:br/>
            <a:pPr>
              <a:defRPr sz="1400">
                <a:solidFill>
                  <a:srgbClr val="94A3B8"/>
                </a:solidFill>
              </a:defRPr>
            </a:pPr>
            <a:r>
              <a:t>Presenter: Nunna Mokshith | B.Tech Robotics &amp; Artificial Intelligence</a:t>
            </a:r>
            <a:br/>
            <a:r>
              <a:t>Project Defense for Machine Learning Theory Course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38BDF8"/>
                </a:solidFill>
              </a:defRPr>
            </a:pPr>
            <a:r>
              <a:t>MACHINE LEARNING THEORY DEFENSE</a:t>
            </a:r>
          </a:p>
        </p:txBody>
      </p:sp>
      <p:sp>
        <p:nvSpPr>
          <p:cNvPr id="4" name="TextBox 3"/>
          <p:cNvSpPr txBox="1"/>
          <p:nvPr/>
        </p:nvSpPr>
        <p:spPr>
          <a:xfrm>
            <a:off x="731520" y="640080"/>
            <a:ext cx="10698480" cy="731520"/>
          </a:xfrm>
          <a:prstGeom prst="rect">
            <a:avLst/>
          </a:prstGeom>
          <a:noFill/>
        </p:spPr>
        <p:txBody>
          <a:bodyPr wrap="square">
            <a:spAutoFit/>
          </a:bodyPr>
          <a:lstStyle/>
          <a:p>
            <a:pPr>
              <a:defRPr sz="2400" b="1">
                <a:solidFill>
                  <a:srgbClr val="F1F5F9"/>
                </a:solidFill>
              </a:defRPr>
            </a:pPr>
            <a:r>
              <a:t>The Core ML Problem: Swarm Coordination Collapse</a:t>
            </a:r>
          </a:p>
        </p:txBody>
      </p:sp>
      <p:sp>
        <p:nvSpPr>
          <p:cNvPr id="5" name="Rounded Rectangle 4"/>
          <p:cNvSpPr/>
          <p:nvPr/>
        </p:nvSpPr>
        <p:spPr>
          <a:xfrm>
            <a:off x="731520" y="1463040"/>
            <a:ext cx="5120640" cy="4754880"/>
          </a:xfrm>
          <a:prstGeom prst="roundRect">
            <a:avLst/>
          </a:prstGeom>
          <a:solidFill>
            <a:srgbClr val="1E293B"/>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38BDF8"/>
                </a:solidFill>
              </a:defRPr>
            </a:pPr>
            <a:r>
              <a:t>The Operational Problem: Decentralized WTA</a:t>
            </a:r>
          </a:p>
          <a:p>
            <a:pPr>
              <a:defRPr sz="1300">
                <a:solidFill>
                  <a:srgbClr val="F1F5F9"/>
                </a:solidFill>
              </a:defRPr>
            </a:pPr>
            <a:r>
              <a:t>• Scenario: 4 supersonic missiles (Mach 1.5) attacking 3 targets (SAM radar, Command bunker, Fuel depot).</a:t>
            </a:r>
          </a:p>
          <a:p>
            <a:pPr>
              <a:defRPr sz="1300">
                <a:solidFill>
                  <a:srgbClr val="F1F5F9"/>
                </a:solidFill>
              </a:defRPr>
            </a:pPr>
            <a:r>
              <a:t>• EW Jammed Environment: Central AWACS/Satellite links are disabled; missiles can only communicate via a 1-hop ad-hoc local mesh.</a:t>
            </a:r>
          </a:p>
          <a:p>
            <a:pPr>
              <a:defRPr sz="1300">
                <a:solidFill>
                  <a:srgbClr val="F1F5F9"/>
                </a:solidFill>
              </a:defRPr>
            </a:pPr>
            <a:r>
              <a:t>• Greedy Homogeneous Collapse: If each agent independently picks argmax Q(s, a), ALL 4 missiles pick Target 0 (Radar: +10 pts).</a:t>
            </a:r>
          </a:p>
          <a:p>
            <a:pPr>
              <a:defRPr sz="1300">
                <a:solidFill>
                  <a:srgbClr val="F1F5F9"/>
                </a:solidFill>
              </a:defRPr>
            </a:pPr>
            <a:r>
              <a:t>• Result: Severe Overkill [0, 0, 0, 0]. Secondary critical targets survive completely untouched.</a:t>
            </a:r>
          </a:p>
        </p:txBody>
      </p:sp>
      <p:sp>
        <p:nvSpPr>
          <p:cNvPr id="6" name="Rounded Rectangle 5"/>
          <p:cNvSpPr/>
          <p:nvPr/>
        </p:nvSpPr>
        <p:spPr>
          <a:xfrm>
            <a:off x="6217920" y="1463040"/>
            <a:ext cx="5212080" cy="4754880"/>
          </a:xfrm>
          <a:prstGeom prst="roundRect">
            <a:avLst/>
          </a:prstGeom>
          <a:solidFill>
            <a:srgbClr val="1E293B"/>
          </a:solidFill>
          <a:ln>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BBF24"/>
                </a:solidFill>
              </a:defRPr>
            </a:pPr>
            <a:r>
              <a:t>Why Classical Optimization Fails</a:t>
            </a:r>
          </a:p>
          <a:p>
            <a:pPr>
              <a:defRPr sz="1300">
                <a:solidFill>
                  <a:srgbClr val="F1F5F9"/>
                </a:solidFill>
              </a:defRPr>
            </a:pPr>
            <a:r>
              <a:t>• Combinatorial WTA is NP-Complete: Finding optimal allocation over dynamic time horizons scales factorially.</a:t>
            </a:r>
          </a:p>
          <a:p>
            <a:pPr>
              <a:defRPr sz="1300">
                <a:solidFill>
                  <a:srgbClr val="F1F5F9"/>
                </a:solidFill>
              </a:defRPr>
            </a:pPr>
            <a:r>
              <a:t>• Latency Bottleneck: Mixed-Integer Linear Programming (MILP) or Hungarian algorithms take 500ms - 5000ms to solve.</a:t>
            </a:r>
          </a:p>
          <a:p>
            <a:pPr>
              <a:defRPr sz="1300">
                <a:solidFill>
                  <a:srgbClr val="F1F5F9"/>
                </a:solidFill>
              </a:defRPr>
            </a:pPr>
            <a:r>
              <a:t>• Supersonic Deadline: At 500 m/s, guidance autopilots demand a strict &lt; 10ms execution loop. Classical solvers cause flight instability.</a:t>
            </a:r>
          </a:p>
          <a:p>
            <a:pPr>
              <a:defRPr sz="1300">
                <a:solidFill>
                  <a:srgbClr val="F1F5F9"/>
                </a:solidFill>
              </a:defRPr>
            </a:pPr>
            <a:r>
              <a:t>• Single Point of Failure: Centralized optimizers collapse if the master node is destroyed.</a:t>
            </a:r>
          </a:p>
          <a:p>
            <a:pPr>
              <a:defRPr sz="1300">
                <a:solidFill>
                  <a:srgbClr val="F1F5F9"/>
                </a:solidFill>
              </a:defRPr>
            </a:pPr>
            <a:r>
              <a:t>• Our Solution: Edge-deployed Graph Neural Network with &lt; 2.4ms inference.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38BDF8"/>
                </a:solidFill>
              </a:defRPr>
            </a:pPr>
            <a:r>
              <a:t>MACHINE LEARNING THEORY DEFENSE</a:t>
            </a:r>
          </a:p>
        </p:txBody>
      </p:sp>
      <p:sp>
        <p:nvSpPr>
          <p:cNvPr id="4" name="TextBox 3"/>
          <p:cNvSpPr txBox="1"/>
          <p:nvPr/>
        </p:nvSpPr>
        <p:spPr>
          <a:xfrm>
            <a:off x="731520" y="640080"/>
            <a:ext cx="10698480" cy="731520"/>
          </a:xfrm>
          <a:prstGeom prst="rect">
            <a:avLst/>
          </a:prstGeom>
          <a:noFill/>
        </p:spPr>
        <p:txBody>
          <a:bodyPr wrap="square">
            <a:spAutoFit/>
          </a:bodyPr>
          <a:lstStyle/>
          <a:p>
            <a:pPr>
              <a:defRPr sz="2400" b="1">
                <a:solidFill>
                  <a:srgbClr val="F1F5F9"/>
                </a:solidFill>
              </a:defRPr>
            </a:pPr>
            <a:r>
              <a:t>Mathematical Foundations: Dec-POMDP &amp; Graph Theory</a:t>
            </a:r>
          </a:p>
        </p:txBody>
      </p:sp>
      <p:sp>
        <p:nvSpPr>
          <p:cNvPr id="5" name="Rounded Rectangle 4"/>
          <p:cNvSpPr/>
          <p:nvPr/>
        </p:nvSpPr>
        <p:spPr>
          <a:xfrm>
            <a:off x="731520" y="1463040"/>
            <a:ext cx="10698480" cy="4754880"/>
          </a:xfrm>
          <a:prstGeom prst="roundRect">
            <a:avLst/>
          </a:prstGeom>
          <a:solidFill>
            <a:srgbClr val="1E293B"/>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700" b="1">
                <a:solidFill>
                  <a:srgbClr val="38BDF8"/>
                </a:solidFill>
              </a:defRPr>
            </a:pPr>
            <a:r>
              <a:t>Formal Multi-Agent Reinforcement Learning Formulation</a:t>
            </a:r>
          </a:p>
          <a:p>
            <a:pPr>
              <a:defRPr b="0" sz="1300">
                <a:solidFill>
                  <a:srgbClr val="22C55E"/>
                </a:solidFill>
              </a:defRPr>
            </a:pPr>
            <a:r>
              <a:t>• Dec-POMDP Tuple: Formulated as &lt; S, {A_i}, P, {R_i}, {Omega_i}, {O_i}, gamma &gt;. Each missile i receives partial observation o_i (onboard radar + neighbor radio packets) and selects discrete target choice a_i in {T0, T1, T2}.</a:t>
            </a:r>
          </a:p>
          <a:p>
            <a:pPr>
              <a:defRPr b="0" sz="1300">
                <a:solidFill>
                  <a:srgbClr val="22C55E"/>
                </a:solidFill>
              </a:defRPr>
            </a:pPr>
            <a:r>
              <a:t>• Dynamic Ad-Hoc Topology: Swarm graph G(t) = (V, E(t)) with Adjacency A(t) and Degree matrix D(t). Graph Laplacian L = D - A.</a:t>
            </a:r>
          </a:p>
          <a:p>
            <a:pPr>
              <a:defRPr b="0" sz="1300">
                <a:solidFill>
                  <a:srgbClr val="22C55E"/>
                </a:solidFill>
              </a:defRPr>
            </a:pPr>
            <a:r>
              <a:t>• Algebraic Connectivity: The second smallest eigenvalue of L, lambda_2(L) (Fiedler value = 4.0), mathematically proves the ad-hoc mesh remains strictly connected across the entire cruise phase.</a:t>
            </a:r>
          </a:p>
          <a:p>
            <a:pPr>
              <a:defRPr b="0" sz="1300">
                <a:solidFill>
                  <a:srgbClr val="22C55E"/>
                </a:solidFill>
              </a:defRPr>
            </a:pPr>
            <a:r>
              <a:t>• Separation of Concerns: Tier 2 (ML Policy) performs discrete high-level target allocation; Tier 1 (Pure Proportional Navigation) executes continuous low-level fin steering (clamped to 25G).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38BDF8"/>
                </a:solidFill>
              </a:defRPr>
            </a:pPr>
            <a:r>
              <a:t>MACHINE LEARNING THEORY DEFENSE</a:t>
            </a:r>
          </a:p>
        </p:txBody>
      </p:sp>
      <p:sp>
        <p:nvSpPr>
          <p:cNvPr id="4" name="TextBox 3"/>
          <p:cNvSpPr txBox="1"/>
          <p:nvPr/>
        </p:nvSpPr>
        <p:spPr>
          <a:xfrm>
            <a:off x="731520" y="640080"/>
            <a:ext cx="10698480" cy="731520"/>
          </a:xfrm>
          <a:prstGeom prst="rect">
            <a:avLst/>
          </a:prstGeom>
          <a:noFill/>
        </p:spPr>
        <p:txBody>
          <a:bodyPr wrap="square">
            <a:spAutoFit/>
          </a:bodyPr>
          <a:lstStyle/>
          <a:p>
            <a:pPr>
              <a:defRPr sz="2400" b="1">
                <a:solidFill>
                  <a:srgbClr val="F1F5F9"/>
                </a:solidFill>
              </a:defRPr>
            </a:pPr>
            <a:r>
              <a:t>Neural Architecture: Graph Attention Network (GAT) Policy</a:t>
            </a:r>
          </a:p>
        </p:txBody>
      </p:sp>
      <p:pic>
        <p:nvPicPr>
          <p:cNvPr id="5" name="Picture 4" descr="fig3_neural_architecture.png"/>
          <p:cNvPicPr>
            <a:picLocks noChangeAspect="1"/>
          </p:cNvPicPr>
          <p:nvPr/>
        </p:nvPicPr>
        <p:blipFill>
          <a:blip r:embed="rId2"/>
          <a:stretch>
            <a:fillRect/>
          </a:stretch>
        </p:blipFill>
        <p:spPr>
          <a:xfrm>
            <a:off x="731520" y="1463040"/>
            <a:ext cx="5669280" cy="3212592"/>
          </a:xfrm>
          <a:prstGeom prst="rect">
            <a:avLst/>
          </a:prstGeom>
        </p:spPr>
      </p:pic>
      <p:sp>
        <p:nvSpPr>
          <p:cNvPr id="6" name="Rounded Rectangle 5"/>
          <p:cNvSpPr/>
          <p:nvPr/>
        </p:nvSpPr>
        <p:spPr>
          <a:xfrm>
            <a:off x="6675120" y="1463040"/>
            <a:ext cx="4754880" cy="4754880"/>
          </a:xfrm>
          <a:prstGeom prst="roundRect">
            <a:avLst/>
          </a:prstGeom>
          <a:solidFill>
            <a:srgbClr val="1E293B"/>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38BDF8"/>
                </a:solidFill>
              </a:defRPr>
            </a:pPr>
            <a:r>
              <a:t>GAT Message Passing &amp; Invariance</a:t>
            </a:r>
          </a:p>
          <a:p>
            <a:pPr>
              <a:defRPr sz="1200">
                <a:solidFill>
                  <a:srgbClr val="F1F5F9"/>
                </a:solidFill>
              </a:defRPr>
            </a:pPr>
            <a:r>
              <a:t>• Dynamic Attention Weights: alpha_ij = Softmax(LeakyReLU(a^T [W h_i || W h_j])). Missiles dynamically weight neighbor communications based on relative distance and velocity vectors.</a:t>
            </a:r>
          </a:p>
          <a:p>
            <a:pPr>
              <a:defRPr sz="1200">
                <a:solidFill>
                  <a:srgbClr val="F1F5F9"/>
                </a:solidFill>
              </a:defRPr>
            </a:pPr>
            <a:r>
              <a:t>• Latent Intent Sharing: Neighbor embeddings convey trajectory inclination, allowing agents to sense when a teammate has already committed to Target 0.</a:t>
            </a:r>
          </a:p>
          <a:p>
            <a:pPr>
              <a:defRPr sz="1200">
                <a:solidFill>
                  <a:srgbClr val="F1F5F9"/>
                </a:solidFill>
              </a:defRPr>
            </a:pPr>
            <a:r>
              <a:t>• Overcoming GNN Over-Smoothing: Residual self-connection h_out = [h_self || sum_j alpha_ij h_j] ensures node embeddings do not collapse to graph centroid.</a:t>
            </a:r>
          </a:p>
          <a:p>
            <a:pPr>
              <a:defRPr sz="1200">
                <a:solidFill>
                  <a:srgbClr val="F1F5F9"/>
                </a:solidFill>
              </a:defRPr>
            </a:pPr>
            <a:r>
              <a:t>• Permutation Invariance: Handled seamlessly if an agent is shot down (N = 4 -&gt; 3) in 0.58ms without network retraining.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38BDF8"/>
                </a:solidFill>
              </a:defRPr>
            </a:pPr>
            <a:r>
              <a:t>MACHINE LEARNING THEORY DEFENSE</a:t>
            </a:r>
          </a:p>
        </p:txBody>
      </p:sp>
      <p:sp>
        <p:nvSpPr>
          <p:cNvPr id="4" name="TextBox 3"/>
          <p:cNvSpPr txBox="1"/>
          <p:nvPr/>
        </p:nvSpPr>
        <p:spPr>
          <a:xfrm>
            <a:off x="731520" y="640080"/>
            <a:ext cx="10698480" cy="731520"/>
          </a:xfrm>
          <a:prstGeom prst="rect">
            <a:avLst/>
          </a:prstGeom>
          <a:noFill/>
        </p:spPr>
        <p:txBody>
          <a:bodyPr wrap="square">
            <a:spAutoFit/>
          </a:bodyPr>
          <a:lstStyle/>
          <a:p>
            <a:pPr>
              <a:defRPr sz="2400" b="1">
                <a:solidFill>
                  <a:srgbClr val="F1F5F9"/>
                </a:solidFill>
              </a:defRPr>
            </a:pPr>
            <a:r>
              <a:t>Training Engine: MAPPO with CTDE &amp; Reward Shaping</a:t>
            </a:r>
          </a:p>
        </p:txBody>
      </p:sp>
      <p:sp>
        <p:nvSpPr>
          <p:cNvPr id="5" name="Rounded Rectangle 4"/>
          <p:cNvSpPr/>
          <p:nvPr/>
        </p:nvSpPr>
        <p:spPr>
          <a:xfrm>
            <a:off x="731520" y="1463040"/>
            <a:ext cx="5212080" cy="4754880"/>
          </a:xfrm>
          <a:prstGeom prst="roundRect">
            <a:avLst/>
          </a:prstGeom>
          <a:solidFill>
            <a:srgbClr val="1E293B"/>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38BDF8"/>
                </a:solidFill>
              </a:defRPr>
            </a:pPr>
            <a:r>
              <a:t>CTDE: Centralized Training Decentralized Execution</a:t>
            </a:r>
          </a:p>
          <a:p>
            <a:pPr>
              <a:defRPr sz="1200">
                <a:solidFill>
                  <a:srgbClr val="F1F5F9"/>
                </a:solidFill>
              </a:defRPr>
            </a:pPr>
            <a:r>
              <a:t>• The Non-Stationarity Dilemma: Independent Q-learning breaks Markov assumptions because neighbor policies change during training.</a:t>
            </a:r>
          </a:p>
          <a:p>
            <a:pPr>
              <a:defRPr sz="1200">
                <a:solidFill>
                  <a:srgbClr val="F1F5F9"/>
                </a:solidFill>
              </a:defRPr>
            </a:pPr>
            <a:r>
              <a:t>• Centralized Critic V_phi(S): Observes global joint state during offline training simulation to stabilize Generalized Advantage Estimation (GAE).</a:t>
            </a:r>
          </a:p>
          <a:p>
            <a:pPr>
              <a:defRPr sz="1200">
                <a:solidFill>
                  <a:srgbClr val="F1F5F9"/>
                </a:solidFill>
              </a:defRPr>
            </a:pPr>
            <a:r>
              <a:t>• Decentralized Actor pi_theta(a_i | o_i): Deployed onboard. Relies exclusively on local radar and 1-hop mesh radio packet.</a:t>
            </a:r>
          </a:p>
          <a:p>
            <a:pPr>
              <a:defRPr sz="1200">
                <a:solidFill>
                  <a:srgbClr val="F1F5F9"/>
                </a:solidFill>
              </a:defRPr>
            </a:pPr>
            <a:r>
              <a:t>• PPO Clipped Objective: Limits policy updates to [1-eps, 1+eps], preventing destructive divergence.</a:t>
            </a:r>
          </a:p>
        </p:txBody>
      </p:sp>
      <p:sp>
        <p:nvSpPr>
          <p:cNvPr id="6" name="Rounded Rectangle 5"/>
          <p:cNvSpPr/>
          <p:nvPr/>
        </p:nvSpPr>
        <p:spPr>
          <a:xfrm>
            <a:off x="6217920" y="1463040"/>
            <a:ext cx="5212080" cy="4754880"/>
          </a:xfrm>
          <a:prstGeom prst="roundRect">
            <a:avLst/>
          </a:prstGeom>
          <a:solidFill>
            <a:srgbClr val="1E293B"/>
          </a:solidFill>
          <a:ln>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FBBF24"/>
                </a:solidFill>
              </a:defRPr>
            </a:pPr>
            <a:r>
              <a:t>Multi-Objective Reward Formulation</a:t>
            </a:r>
          </a:p>
          <a:p>
            <a:pPr>
              <a:defRPr sz="1200">
                <a:solidFill>
                  <a:srgbClr val="F1F5F9"/>
                </a:solidFill>
              </a:defRPr>
            </a:pPr>
            <a:r>
              <a:t>• Team Objective: R = R_priority + R_coverage - R_overkill + R_distance.</a:t>
            </a:r>
          </a:p>
          <a:p>
            <a:pPr>
              <a:defRPr sz="1200">
                <a:solidFill>
                  <a:srgbClr val="F1F5F9"/>
                </a:solidFill>
              </a:defRPr>
            </a:pPr>
            <a:r>
              <a:t>• Priority Score: Sum of targeted assets (Radar: +10, Command: +6, Fuel: +6).</a:t>
            </a:r>
          </a:p>
          <a:p>
            <a:pPr>
              <a:defRPr sz="1200">
                <a:solidFill>
                  <a:srgbClr val="F1F5F9"/>
                </a:solidFill>
              </a:defRPr>
            </a:pPr>
            <a:r>
              <a:t>• Coverage Bonus: +50 for complete coverage of all 3 targets.</a:t>
            </a:r>
          </a:p>
          <a:p>
            <a:pPr>
              <a:defRPr sz="1200">
                <a:solidFill>
                  <a:srgbClr val="F1F5F9"/>
                </a:solidFill>
              </a:defRPr>
            </a:pPr>
            <a:r>
              <a:t>• Overkill Penalty: -30 per redundant duplicate agent on the same target.</a:t>
            </a:r>
          </a:p>
          <a:p>
            <a:pPr>
              <a:defRPr sz="1200">
                <a:solidFill>
                  <a:srgbClr val="F1F5F9"/>
                </a:solidFill>
              </a:defRPr>
            </a:pPr>
            <a:r>
              <a:t>• Gradient Impact: If all 4 pick T0, Team Reward = -45.33. When bifurcated [T0, T2, T1, T0], Reward jumps to +60.00.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38BDF8"/>
                </a:solidFill>
              </a:defRPr>
            </a:pPr>
            <a:r>
              <a:t>MACHINE LEARNING THEORY DEFENSE</a:t>
            </a:r>
          </a:p>
        </p:txBody>
      </p:sp>
      <p:sp>
        <p:nvSpPr>
          <p:cNvPr id="4" name="TextBox 3"/>
          <p:cNvSpPr txBox="1"/>
          <p:nvPr/>
        </p:nvSpPr>
        <p:spPr>
          <a:xfrm>
            <a:off x="731520" y="640080"/>
            <a:ext cx="10698480" cy="731520"/>
          </a:xfrm>
          <a:prstGeom prst="rect">
            <a:avLst/>
          </a:prstGeom>
          <a:noFill/>
        </p:spPr>
        <p:txBody>
          <a:bodyPr wrap="square">
            <a:spAutoFit/>
          </a:bodyPr>
          <a:lstStyle/>
          <a:p>
            <a:pPr>
              <a:defRPr sz="2400" b="1">
                <a:solidFill>
                  <a:srgbClr val="F1F5F9"/>
                </a:solidFill>
              </a:defRPr>
            </a:pPr>
            <a:r>
              <a:t>Empirical ML Results: Cooperative Target Allocation</a:t>
            </a:r>
          </a:p>
        </p:txBody>
      </p:sp>
      <p:pic>
        <p:nvPicPr>
          <p:cNvPr id="5" name="Picture 4" descr="minimal_allocation_visual.png"/>
          <p:cNvPicPr>
            <a:picLocks noChangeAspect="1"/>
          </p:cNvPicPr>
          <p:nvPr/>
        </p:nvPicPr>
        <p:blipFill>
          <a:blip r:embed="rId2"/>
          <a:stretch>
            <a:fillRect/>
          </a:stretch>
        </p:blipFill>
        <p:spPr>
          <a:xfrm>
            <a:off x="731520" y="1463040"/>
            <a:ext cx="7680960" cy="3054376"/>
          </a:xfrm>
          <a:prstGeom prst="rect">
            <a:avLst/>
          </a:prstGeom>
        </p:spPr>
      </p:pic>
      <p:sp>
        <p:nvSpPr>
          <p:cNvPr id="6" name="Rounded Rectangle 5"/>
          <p:cNvSpPr/>
          <p:nvPr/>
        </p:nvSpPr>
        <p:spPr>
          <a:xfrm>
            <a:off x="8686800" y="1463040"/>
            <a:ext cx="2743200" cy="4754880"/>
          </a:xfrm>
          <a:prstGeom prst="roundRect">
            <a:avLst/>
          </a:prstGeom>
          <a:solidFill>
            <a:srgbClr val="1E293B"/>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22C55E"/>
                </a:solidFill>
              </a:defRPr>
            </a:pPr>
            <a:r>
              <a:t>Key Takeaways</a:t>
            </a:r>
          </a:p>
          <a:p>
            <a:pPr>
              <a:defRPr sz="1200">
                <a:solidFill>
                  <a:srgbClr val="F1F5F9"/>
                </a:solidFill>
              </a:defRPr>
            </a:pPr>
            <a:r>
              <a:t>• Before Training: [T0, T0, T0, T0] with reward -45.33 (Greedy Overkill).</a:t>
            </a:r>
          </a:p>
          <a:p>
            <a:pPr>
              <a:defRPr sz="1200">
                <a:solidFill>
                  <a:srgbClr val="F1F5F9"/>
                </a:solidFill>
              </a:defRPr>
            </a:pPr>
            <a:r>
              <a:t>• After Training: [T0, T2, T1, T0] with reward +60.00 (100% Coverage).</a:t>
            </a:r>
          </a:p>
          <a:p>
            <a:pPr>
              <a:defRPr sz="1200">
                <a:solidFill>
                  <a:srgbClr val="F1F5F9"/>
                </a:solidFill>
              </a:defRPr>
            </a:pPr>
            <a:r>
              <a:t>• Tactical Bifurcation: M0 &amp; M3 saturate Radar, M1 takes Fuel, M2 strikes Command.</a:t>
            </a:r>
          </a:p>
          <a:p>
            <a:pPr>
              <a:defRPr sz="1200">
                <a:solidFill>
                  <a:srgbClr val="F1F5F9"/>
                </a:solidFill>
              </a:defRPr>
            </a:pPr>
            <a:r>
              <a:t>• Zero Human Rules: Dispersal is discovered entirely via policy gradients.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38BDF8"/>
                </a:solidFill>
              </a:defRPr>
            </a:pPr>
            <a:r>
              <a:t>MACHINE LEARNING THEORY DEFENSE</a:t>
            </a:r>
          </a:p>
        </p:txBody>
      </p:sp>
      <p:sp>
        <p:nvSpPr>
          <p:cNvPr id="4" name="TextBox 3"/>
          <p:cNvSpPr txBox="1"/>
          <p:nvPr/>
        </p:nvSpPr>
        <p:spPr>
          <a:xfrm>
            <a:off x="731520" y="640080"/>
            <a:ext cx="10698480" cy="731520"/>
          </a:xfrm>
          <a:prstGeom prst="rect">
            <a:avLst/>
          </a:prstGeom>
          <a:noFill/>
        </p:spPr>
        <p:txBody>
          <a:bodyPr wrap="square">
            <a:spAutoFit/>
          </a:bodyPr>
          <a:lstStyle/>
          <a:p>
            <a:pPr>
              <a:defRPr sz="2400" b="1">
                <a:solidFill>
                  <a:srgbClr val="F1F5F9"/>
                </a:solidFill>
              </a:defRPr>
            </a:pPr>
            <a:r>
              <a:t>Closed-Loop Flight Execution &amp; Telemetry Dashboard</a:t>
            </a:r>
          </a:p>
        </p:txBody>
      </p:sp>
      <p:pic>
        <p:nvPicPr>
          <p:cNvPr id="5" name="Picture 4" descr="fig4_telemetry_dashboard.png"/>
          <p:cNvPicPr>
            <a:picLocks noChangeAspect="1"/>
          </p:cNvPicPr>
          <p:nvPr/>
        </p:nvPicPr>
        <p:blipFill>
          <a:blip r:embed="rId2"/>
          <a:stretch>
            <a:fillRect/>
          </a:stretch>
        </p:blipFill>
        <p:spPr>
          <a:xfrm>
            <a:off x="731520" y="1463040"/>
            <a:ext cx="6949440" cy="5212080"/>
          </a:xfrm>
          <a:prstGeom prst="rect">
            <a:avLst/>
          </a:prstGeom>
        </p:spPr>
      </p:pic>
      <p:sp>
        <p:nvSpPr>
          <p:cNvPr id="6" name="Rounded Rectangle 5"/>
          <p:cNvSpPr/>
          <p:nvPr/>
        </p:nvSpPr>
        <p:spPr>
          <a:xfrm>
            <a:off x="7955279" y="1463040"/>
            <a:ext cx="3474720" cy="4754880"/>
          </a:xfrm>
          <a:prstGeom prst="roundRect">
            <a:avLst/>
          </a:prstGeom>
          <a:solidFill>
            <a:srgbClr val="1E293B"/>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38BDF8"/>
                </a:solidFill>
              </a:defRPr>
            </a:pPr>
            <a:r>
              <a:t>4-Panel Telemetry Validation</a:t>
            </a:r>
          </a:p>
          <a:p>
            <a:pPr>
              <a:defRPr sz="1200">
                <a:solidFill>
                  <a:srgbClr val="F1F5F9"/>
                </a:solidFill>
              </a:defRPr>
            </a:pPr>
            <a:r>
              <a:t>• 1. Dynamic Bifurcation: Missiles cruise in formation, then split cleanly to distinct targets.</a:t>
            </a:r>
          </a:p>
          <a:p>
            <a:pPr>
              <a:defRPr sz="1200">
                <a:solidFill>
                  <a:srgbClr val="F1F5F9"/>
                </a:solidFill>
              </a:defRPr>
            </a:pPr>
            <a:r>
              <a:t>• 2. Inter-Agent Separation: Maintained &gt; 295m (strictly above the 200m safety line).</a:t>
            </a:r>
          </a:p>
          <a:p>
            <a:pPr>
              <a:defRPr sz="1200">
                <a:solidFill>
                  <a:srgbClr val="F1F5F9"/>
                </a:solidFill>
              </a:defRPr>
            </a:pPr>
            <a:r>
              <a:t>• 3. Algebraic Connectivity: Fiedler value lambda_2 = 4.0 verifies mesh link integrity.</a:t>
            </a:r>
          </a:p>
          <a:p>
            <a:pPr>
              <a:defRPr sz="1200">
                <a:solidFill>
                  <a:srgbClr val="F1F5F9"/>
                </a:solidFill>
              </a:defRPr>
            </a:pPr>
            <a:r>
              <a:t>• 4. Fin Acceleration: Demanded G-loads stay below 11.4G (well within the 25G airframe limit).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38BDF8"/>
                </a:solidFill>
              </a:defRPr>
            </a:pPr>
            <a:r>
              <a:t>MACHINE LEARNING THEORY DEFENSE</a:t>
            </a:r>
          </a:p>
        </p:txBody>
      </p:sp>
      <p:sp>
        <p:nvSpPr>
          <p:cNvPr id="4" name="TextBox 3"/>
          <p:cNvSpPr txBox="1"/>
          <p:nvPr/>
        </p:nvSpPr>
        <p:spPr>
          <a:xfrm>
            <a:off x="731520" y="640080"/>
            <a:ext cx="10698480" cy="731520"/>
          </a:xfrm>
          <a:prstGeom prst="rect">
            <a:avLst/>
          </a:prstGeom>
          <a:noFill/>
        </p:spPr>
        <p:txBody>
          <a:bodyPr wrap="square">
            <a:spAutoFit/>
          </a:bodyPr>
          <a:lstStyle/>
          <a:p>
            <a:pPr>
              <a:defRPr sz="2400" b="1">
                <a:solidFill>
                  <a:srgbClr val="F1F5F9"/>
                </a:solidFill>
              </a:defRPr>
            </a:pPr>
            <a:r>
              <a:t>Performance Benchmarks &amp; Summary</a:t>
            </a:r>
          </a:p>
        </p:txBody>
      </p:sp>
      <p:sp>
        <p:nvSpPr>
          <p:cNvPr id="5" name="Rounded Rectangle 4"/>
          <p:cNvSpPr/>
          <p:nvPr/>
        </p:nvSpPr>
        <p:spPr>
          <a:xfrm>
            <a:off x="731520" y="1463040"/>
            <a:ext cx="5212080" cy="4754880"/>
          </a:xfrm>
          <a:prstGeom prst="roundRect">
            <a:avLst/>
          </a:prstGeom>
          <a:solidFill>
            <a:srgbClr val="1E293B"/>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22C55E"/>
                </a:solidFill>
              </a:defRPr>
            </a:pPr>
            <a:r>
              <a:t>Empirical Benchmark Scorecard</a:t>
            </a:r>
          </a:p>
          <a:p>
            <a:pPr>
              <a:defRPr b="0" sz="1200">
                <a:solidFill>
                  <a:srgbClr val="38BDF8"/>
                </a:solidFill>
              </a:defRPr>
            </a:pPr>
            <a:r>
              <a:t>• Target Coverage: 100.0% (3 / 3 Targets Neutralized)</a:t>
            </a:r>
          </a:p>
          <a:p>
            <a:pPr>
              <a:defRPr b="0" sz="1200">
                <a:solidFill>
                  <a:srgbClr val="38BDF8"/>
                </a:solidFill>
              </a:defRPr>
            </a:pPr>
            <a:r>
              <a:t>• Overkill Redundancy: 0 Unassigned Enemy Assets</a:t>
            </a:r>
          </a:p>
          <a:p>
            <a:pPr>
              <a:defRPr b="0" sz="1200">
                <a:solidFill>
                  <a:srgbClr val="38BDF8"/>
                </a:solidFill>
              </a:defRPr>
            </a:pPr>
            <a:r>
              <a:t>• Terminal Miss Distance: 0.892 meters (Kinetic Direct Hit)</a:t>
            </a:r>
          </a:p>
          <a:p>
            <a:pPr>
              <a:defRPr b="0" sz="1200">
                <a:solidFill>
                  <a:srgbClr val="38BDF8"/>
                </a:solidFill>
              </a:defRPr>
            </a:pPr>
            <a:r>
              <a:t>• GAT Forward Inference: 2.4 ms (Deadline: 10 ms)</a:t>
            </a:r>
          </a:p>
          <a:p>
            <a:pPr>
              <a:defRPr b="0" sz="1200">
                <a:solidFill>
                  <a:srgbClr val="38BDF8"/>
                </a:solidFill>
              </a:defRPr>
            </a:pPr>
            <a:r>
              <a:t>• Dynamic Attrition Adaptation: 0.58 ms (N = 4 -&gt; 3 missiles)</a:t>
            </a:r>
          </a:p>
          <a:p>
            <a:pPr>
              <a:defRPr b="0" sz="1200">
                <a:solidFill>
                  <a:srgbClr val="38BDF8"/>
                </a:solidFill>
              </a:defRPr>
            </a:pPr>
            <a:r>
              <a:t>• Minimum Swarm Separation: 295.1 m (Safety Bubble: 200 m)</a:t>
            </a:r>
          </a:p>
        </p:txBody>
      </p:sp>
      <p:sp>
        <p:nvSpPr>
          <p:cNvPr id="6" name="Rounded Rectangle 5"/>
          <p:cNvSpPr/>
          <p:nvPr/>
        </p:nvSpPr>
        <p:spPr>
          <a:xfrm>
            <a:off x="6217920" y="1463040"/>
            <a:ext cx="5212080" cy="4754880"/>
          </a:xfrm>
          <a:prstGeom prst="roundRect">
            <a:avLst/>
          </a:prstGeom>
          <a:solidFill>
            <a:srgbClr val="1E293B"/>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38BDF8"/>
                </a:solidFill>
              </a:defRPr>
            </a:pPr>
            <a:r>
              <a:t>Project Deliverables &amp; Artifacts</a:t>
            </a:r>
          </a:p>
          <a:p>
            <a:pPr>
              <a:defRPr b="0" sz="1200">
                <a:solidFill>
                  <a:srgbClr val="FBBF24"/>
                </a:solidFill>
              </a:defRPr>
            </a:pPr>
            <a:r>
              <a:t>• GitHub Repository: https://github.com/Nunna-Mokshith/Distributed-Cooperative-Swarm-Guidance</a:t>
            </a:r>
          </a:p>
          <a:p>
            <a:pPr>
              <a:defRPr b="0" sz="1200">
                <a:solidFill>
                  <a:srgbClr val="FBBF24"/>
                </a:solidFill>
              </a:defRPr>
            </a:pPr>
            <a:r>
              <a:t>• Interactive Google Colab: Self-contained .ipynb notebook with pure ML demo and full salvo simulation</a:t>
            </a:r>
          </a:p>
          <a:p>
            <a:pPr>
              <a:defRPr b="0" sz="1200">
                <a:solidFill>
                  <a:srgbClr val="FBBF24"/>
                </a:solidFill>
              </a:defRPr>
            </a:pPr>
            <a:r>
              <a:t>• Key Architectural Takeaway: Proves that separating high-level ML combinatorial decision-making from low-level classical control provides both real-time speed (&lt;2.4ms) and guaranteed physical safety.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