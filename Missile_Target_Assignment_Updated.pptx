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8" r:id="rId9"/>
    <p:sldId id="261" r:id="rId10"/>
    <p:sldId id="269" r:id="rId11"/>
    <p:sldId id="270" r:id="rId12"/>
    <p:sldId id="262" r:id="rId13"/>
    <p:sldId id="263" r:id="rId14"/>
    <p:sldId id="271" r:id="rId15"/>
    <p:sldId id="272" r:id="rId16"/>
    <p:sldId id="264" r:id="rId17"/>
    <p:sldId id="273" r:id="rId18"/>
    <p:sldId id="274" r:id="rId19"/>
    <p:sldId id="265" r:id="rId20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66928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ENGINEERING •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704088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3400" b="1" i="0">
                <a:solidFill>
                  <a:srgbClr val="22282C"/>
                </a:solidFill>
                <a:latin typeface="Aptos"/>
              </a:defRPr>
            </a:pPr>
            <a:r>
              <a:rPr lang="en-IN" sz="3600" dirty="0"/>
              <a:t>SWARM ROBOTICS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49808" y="3246120"/>
            <a:ext cx="585216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0" i="0">
                <a:solidFill>
                  <a:srgbClr val="71797D"/>
                </a:solidFill>
                <a:latin typeface="Aptos"/>
              </a:defRPr>
            </a:pPr>
            <a:r>
              <a:t>Graph attention • Action selection • Reward-driven learning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9808" y="4343400"/>
            <a:ext cx="5010912" cy="0"/>
          </a:xfrm>
          <a:prstGeom prst="line">
            <a:avLst/>
          </a:prstGeom>
          <a:ln w="3048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4617720"/>
            <a:ext cx="52120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0" i="0">
                <a:solidFill>
                  <a:srgbClr val="22282C"/>
                </a:solidFill>
                <a:latin typeface="Aptos"/>
              </a:defRPr>
            </a:pPr>
            <a:r>
              <a:t>From individual observations to a shared decision.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0" y="1463040"/>
            <a:ext cx="1645920" cy="64008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1463040"/>
            <a:ext cx="457200" cy="164592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869680" y="2103120"/>
            <a:ext cx="1188720" cy="100584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103120"/>
            <a:ext cx="548640" cy="182880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69680" y="3108960"/>
            <a:ext cx="1737360" cy="82296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595360" y="3108960"/>
            <a:ext cx="274320" cy="178308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595360" y="3931920"/>
            <a:ext cx="2011680" cy="96012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332720" y="3931920"/>
            <a:ext cx="274320" cy="137160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95360" y="4892040"/>
            <a:ext cx="1737360" cy="411480"/>
          </a:xfrm>
          <a:prstGeom prst="line">
            <a:avLst/>
          </a:prstGeom>
          <a:ln w="21590">
            <a:solidFill>
              <a:srgbClr val="B4D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57031" y="1307592"/>
            <a:ext cx="310896" cy="310896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31936" y="13533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M0</a:t>
            </a:r>
          </a:p>
        </p:txBody>
      </p:sp>
      <p:sp>
        <p:nvSpPr>
          <p:cNvPr id="18" name="Oval 17"/>
          <p:cNvSpPr/>
          <p:nvPr/>
        </p:nvSpPr>
        <p:spPr>
          <a:xfrm>
            <a:off x="9902952" y="1947672"/>
            <a:ext cx="310896" cy="310896"/>
          </a:xfrm>
          <a:prstGeom prst="ellipse">
            <a:avLst/>
          </a:prstGeom>
          <a:solidFill>
            <a:srgbClr val="00716C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77856" y="1993391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0" name="Oval 19"/>
          <p:cNvSpPr/>
          <p:nvPr/>
        </p:nvSpPr>
        <p:spPr>
          <a:xfrm>
            <a:off x="8714232" y="2953512"/>
            <a:ext cx="310896" cy="310896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89136" y="299923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22" name="Oval 21"/>
          <p:cNvSpPr/>
          <p:nvPr/>
        </p:nvSpPr>
        <p:spPr>
          <a:xfrm>
            <a:off x="10451592" y="3776472"/>
            <a:ext cx="310896" cy="310896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26496" y="3822191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24" name="Oval 23"/>
          <p:cNvSpPr/>
          <p:nvPr/>
        </p:nvSpPr>
        <p:spPr>
          <a:xfrm>
            <a:off x="8439912" y="4736592"/>
            <a:ext cx="310896" cy="310896"/>
          </a:xfrm>
          <a:prstGeom prst="ellipse">
            <a:avLst/>
          </a:prstGeom>
          <a:solidFill>
            <a:srgbClr val="00716C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14816" y="478231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6" name="Oval 25"/>
          <p:cNvSpPr/>
          <p:nvPr/>
        </p:nvSpPr>
        <p:spPr>
          <a:xfrm>
            <a:off x="10177272" y="5148072"/>
            <a:ext cx="310896" cy="310896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52176" y="5193792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900" b="1" i="0">
                <a:solidFill>
                  <a:srgbClr val="71797D"/>
                </a:solidFill>
                <a:latin typeface="Aptos"/>
              </a:defRPr>
            </a:pPr>
            <a: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355080"/>
            <a:ext cx="5486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CONCEPT OVERVIEW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1F44A9-CDBE-092D-F606-AD6F4D9BD974}"/>
              </a:ext>
            </a:extLst>
          </p:cNvPr>
          <p:cNvSpPr txBox="1"/>
          <p:nvPr/>
        </p:nvSpPr>
        <p:spPr>
          <a:xfrm>
            <a:off x="755608" y="2029301"/>
            <a:ext cx="7839751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3400" b="1" i="0">
                <a:solidFill>
                  <a:srgbClr val="22282C"/>
                </a:solidFill>
                <a:latin typeface="Aptos"/>
              </a:defRPr>
            </a:pPr>
            <a:r>
              <a:rPr sz="2000" dirty="0"/>
              <a:t>How a missile team learns</a:t>
            </a:r>
            <a:r>
              <a:rPr lang="en-IN" sz="2000" dirty="0"/>
              <a:t> </a:t>
            </a:r>
            <a:r>
              <a:rPr sz="2000" dirty="0"/>
              <a:t>to coordinate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Independent missile choices can create target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model is designed to consider both individual suitability and the overall outcome.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023360" cy="11910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500" b="1" i="0">
                <a:solidFill>
                  <a:srgbClr val="22282C"/>
                </a:solidFill>
                <a:latin typeface="Aptos"/>
              </a:defRPr>
            </a:pPr>
            <a:r>
              <a:rPr dirty="0"/>
              <a:t>Which missile should be assigned to which target</a:t>
            </a:r>
            <a:r>
              <a:rPr lang="en-IN" dirty="0"/>
              <a:t>?</a:t>
            </a:r>
            <a:br>
              <a:rPr dirty="0"/>
            </a:b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868680" y="3749039"/>
            <a:ext cx="3337560" cy="0"/>
          </a:xfrm>
          <a:prstGeom prst="line">
            <a:avLst/>
          </a:prstGeom>
          <a:ln w="2794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4023360"/>
            <a:ext cx="388620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0" i="0">
                <a:solidFill>
                  <a:srgbClr val="71797D"/>
                </a:solidFill>
                <a:latin typeface="Aptos"/>
              </a:defRPr>
            </a:pPr>
            <a:r>
              <a:t>A missile-to-target assignment problem: choose assignments that cover useful work without wasting effort.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011680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19202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 i="0">
                <a:solidFill>
                  <a:srgbClr val="22282C"/>
                </a:solidFill>
                <a:latin typeface="Aptos"/>
              </a:defRPr>
            </a:pPr>
            <a:r>
              <a:t>Individual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743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Each missile estimates the suitability or cost of each target.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2816352"/>
            <a:ext cx="53949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23560" y="3182112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82112"/>
            <a:ext cx="19202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 i="0">
                <a:solidFill>
                  <a:srgbClr val="22282C"/>
                </a:solidFill>
                <a:latin typeface="Aptos"/>
              </a:defRPr>
            </a:pPr>
            <a:r>
              <a:t>Team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2743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Missiles use other-missile information to anticipate overlapping choices.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3986784"/>
            <a:ext cx="53949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23560" y="4352544"/>
            <a:ext cx="502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52544"/>
            <a:ext cx="19202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 i="0">
                <a:solidFill>
                  <a:srgbClr val="22282C"/>
                </a:solidFill>
                <a:latin typeface="Aptos"/>
              </a:defRPr>
            </a:pPr>
            <a:r>
              <a:t>Shared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352544"/>
            <a:ext cx="27432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system rewards target coverage, priorities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02 /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Describe each missile’s relative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feature vector summarizes missile position and distance to each target.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931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ONE MISSILE  /  FEATURE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700" b="1" i="0">
                <a:solidFill>
                  <a:srgbClr val="22282C"/>
                </a:solidFill>
                <a:latin typeface="Aptos"/>
              </a:defRPr>
            </a:pPr>
            <a:r>
              <a:t>hᵢ = [ x, y, dA, dB, dC 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3310128"/>
            <a:ext cx="10104120" cy="0"/>
          </a:xfrm>
          <a:prstGeom prst="line">
            <a:avLst/>
          </a:prstGeom>
          <a:ln w="1270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" y="3703320"/>
            <a:ext cx="2103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200" b="1" i="0">
                <a:solidFill>
                  <a:srgbClr val="00716C"/>
                </a:solidFill>
                <a:latin typeface="Aptos"/>
              </a:defRPr>
            </a:pPr>
            <a:r>
              <a:t>x,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5196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09160"/>
            <a:ext cx="2240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Where the missile is located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703320"/>
            <a:ext cx="2103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200" b="1" i="0">
                <a:solidFill>
                  <a:srgbClr val="00716C"/>
                </a:solidFill>
                <a:latin typeface="Aptos"/>
              </a:defRPr>
            </a:pPr>
            <a:r>
              <a:t>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425196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Distance to Target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4709160"/>
            <a:ext cx="2240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Geometric distance to the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703320"/>
            <a:ext cx="2103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200" b="1" i="0">
                <a:solidFill>
                  <a:srgbClr val="00716C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25196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Distance to Target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709160"/>
            <a:ext cx="2240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Geometric distance to the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703320"/>
            <a:ext cx="2103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200" b="1" i="0">
                <a:solidFill>
                  <a:srgbClr val="00716C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25196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Distance to Target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4709160"/>
            <a:ext cx="2240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Geometric distance to the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623560"/>
            <a:ext cx="10058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Normalize values to a common range (for example, 0–1) before passing them to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03 / COMMUNICATION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Represent missile-to-missile communication as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A graph makes the available other-missile relationships explicit.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057400"/>
            <a:ext cx="1645920" cy="45720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2514600"/>
            <a:ext cx="2560320" cy="96012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17320" y="2514600"/>
            <a:ext cx="411480" cy="132588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74720" y="2057400"/>
            <a:ext cx="914400" cy="141732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926080" y="2057400"/>
            <a:ext cx="548640" cy="242316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926080" y="3474720"/>
            <a:ext cx="1463040" cy="100584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417320" y="3474720"/>
            <a:ext cx="2971800" cy="36576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417320" y="3840480"/>
            <a:ext cx="1508760" cy="640080"/>
          </a:xfrm>
          <a:prstGeom prst="line">
            <a:avLst/>
          </a:prstGeom>
          <a:ln w="2286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554480" y="2240280"/>
            <a:ext cx="548640" cy="548640"/>
          </a:xfrm>
          <a:prstGeom prst="ellipse">
            <a:avLst/>
          </a:prstGeom>
          <a:solidFill>
            <a:srgbClr val="00716C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00784" y="2423160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M0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1783080"/>
            <a:ext cx="548640" cy="548640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46703" y="1965960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22282C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0" y="3200400"/>
            <a:ext cx="548640" cy="548640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61104" y="3383279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22282C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22" name="Oval 21"/>
          <p:cNvSpPr/>
          <p:nvPr/>
        </p:nvSpPr>
        <p:spPr>
          <a:xfrm>
            <a:off x="2651760" y="4206240"/>
            <a:ext cx="548640" cy="548640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98064" y="4389120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22282C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24" name="Oval 23"/>
          <p:cNvSpPr/>
          <p:nvPr/>
        </p:nvSpPr>
        <p:spPr>
          <a:xfrm>
            <a:off x="1143000" y="3566160"/>
            <a:ext cx="548640" cy="548640"/>
          </a:xfrm>
          <a:prstGeom prst="ellipse">
            <a:avLst/>
          </a:prstGeom>
          <a:solidFill>
            <a:srgbClr val="FAFAF7"/>
          </a:solidFill>
          <a:ln w="1905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9304" y="3749040"/>
            <a:ext cx="2560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 i="0">
                <a:solidFill>
                  <a:srgbClr val="22282C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14884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GRAPH ELEMENTS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697480"/>
            <a:ext cx="1188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697480"/>
            <a:ext cx="4023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One missile and its current features.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77840" y="3337560"/>
            <a:ext cx="534924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77840" y="3611880"/>
            <a:ext cx="1188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611880"/>
            <a:ext cx="40233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A direct communication relationship between missiles.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77840" y="4343400"/>
            <a:ext cx="534924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77840" y="4617720"/>
            <a:ext cx="1188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Adjacency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617720"/>
            <a:ext cx="4023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A matrix records which node pairs are connected (1) or not (0).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15000"/>
            <a:ext cx="100584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200" b="0" i="1">
                <a:solidFill>
                  <a:srgbClr val="71797D"/>
                </a:solidFill>
                <a:latin typeface="Aptos"/>
              </a:defRPr>
            </a:pPr>
            <a:r>
              <a:t>Illustration only: the actual graph depends on the communication-range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03A / COMMUNICATION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From connections to an adjacency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graph can be encoded as a table of pairwise relationships.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EXAMPLE: FOUR CONNECTED MISSILES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232" y="2651760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651760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651760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651760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64991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6232" y="3364991"/>
            <a:ext cx="566928" cy="438912"/>
          </a:xfrm>
          <a:prstGeom prst="rect">
            <a:avLst/>
          </a:prstGeom>
          <a:solidFill>
            <a:srgbClr val="D4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56232" y="3438144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9464" y="3364991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9464" y="3438144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3364991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82696" y="3438144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95928" y="3364991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95928" y="3438144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78224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56232" y="4078224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56232" y="415137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9464" y="4078224"/>
            <a:ext cx="566928" cy="438912"/>
          </a:xfrm>
          <a:prstGeom prst="rect">
            <a:avLst/>
          </a:prstGeom>
          <a:solidFill>
            <a:srgbClr val="D4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9464" y="415137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82696" y="4078224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82696" y="415137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5928" y="4078224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95928" y="415137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791456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56232" y="4791456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56232" y="4864608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9464" y="4791456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9464" y="4864608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2696" y="4791456"/>
            <a:ext cx="566928" cy="438912"/>
          </a:xfrm>
          <a:prstGeom prst="rect">
            <a:avLst/>
          </a:prstGeom>
          <a:solidFill>
            <a:srgbClr val="D4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82696" y="4864608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95928" y="4791456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95928" y="4864608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504688"/>
            <a:ext cx="594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 i="0">
                <a:solidFill>
                  <a:srgbClr val="22282C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56232" y="5504688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856232" y="55778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9464" y="5504688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69464" y="55778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82696" y="5504688"/>
            <a:ext cx="566928" cy="438912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82696" y="55778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5928" y="5504688"/>
            <a:ext cx="566928" cy="438912"/>
          </a:xfrm>
          <a:prstGeom prst="rect">
            <a:avLst/>
          </a:prstGeom>
          <a:solidFill>
            <a:srgbClr val="D4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95928" y="5577840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2377440"/>
            <a:ext cx="50292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900" b="1" i="0">
                <a:solidFill>
                  <a:srgbClr val="22282C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2971800"/>
            <a:ext cx="484632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71797D"/>
                </a:solidFill>
                <a:latin typeface="Aptos"/>
              </a:defRPr>
            </a:pPr>
            <a:r>
              <a:t>A value of 1 means the pair is connected; 0 means no direct edge.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69280" y="3703320"/>
            <a:ext cx="521208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69280" y="3977639"/>
            <a:ext cx="5029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 i="0">
                <a:solidFill>
                  <a:srgbClr val="22282C"/>
                </a:solidFill>
                <a:latin typeface="Aptos"/>
              </a:defRPr>
            </a:pPr>
            <a:r>
              <a:t>Why encode the graph?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4480560"/>
            <a:ext cx="48463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model needs a consistent way to determine which other-missile messages can contribute to each missile’s representation.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71500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 i="1">
                <a:solidFill>
                  <a:srgbClr val="71797D"/>
                </a:solidFill>
                <a:latin typeface="Aptos"/>
              </a:defRPr>
            </a:pPr>
            <a:r>
              <a:t>This matrix is illustrative; real connectivity depends on the system’s communication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04 / GRAPH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Not every missile signal is equally informative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Attention assigns learned weights to other-missile information before combining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200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FOR ONE MISSILE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624328"/>
            <a:ext cx="292608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48840" y="2624328"/>
            <a:ext cx="1170432" cy="164592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2587752"/>
            <a:ext cx="548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26440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Missile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282696"/>
            <a:ext cx="292608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48840" y="3282696"/>
            <a:ext cx="877824" cy="164592"/>
          </a:xfrm>
          <a:prstGeom prst="rect">
            <a:avLst/>
          </a:prstGeom>
          <a:solidFill>
            <a:srgbClr val="B58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3246120"/>
            <a:ext cx="548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22776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Missile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3941063"/>
            <a:ext cx="292608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148840" y="3941063"/>
            <a:ext cx="585216" cy="164592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3904488"/>
            <a:ext cx="548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581144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Missile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4599431"/>
            <a:ext cx="292608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148840" y="4599431"/>
            <a:ext cx="292608" cy="164592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4562856"/>
            <a:ext cx="5486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THE OPERATION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06040"/>
            <a:ext cx="457200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000" b="1" i="0">
                <a:solidFill>
                  <a:srgbClr val="22282C"/>
                </a:solidFill>
                <a:latin typeface="Aptos"/>
              </a:defRPr>
            </a:pPr>
            <a:r>
              <a:t>Compare → score → 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45720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network learns how strongly one missile should attend to each connected missile.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343400"/>
            <a:ext cx="44805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4617720"/>
            <a:ext cx="45720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weighted messages are combined with the missile’s own features to retain its identity.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623560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0" i="1">
                <a:solidFill>
                  <a:srgbClr val="71797D"/>
                </a:solidFill>
                <a:latin typeface="Aptos"/>
              </a:defRPr>
            </a:pPr>
            <a:r>
              <a:t>Bar values are illustrative, not measured outputs from a trained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04A / GRAPH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What a missile’s attention weight represents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Each weight represents how strongly missile i uses information from missile j.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300" b="1" i="0">
                <a:solidFill>
                  <a:srgbClr val="22282C"/>
                </a:solidFill>
                <a:latin typeface="Aptos"/>
              </a:defRPr>
            </a:pPr>
            <a:r>
              <a:t>αᵢⱼ  =  normalized importance of missile j for missile 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743200"/>
            <a:ext cx="10104120" cy="0"/>
          </a:xfrm>
          <a:prstGeom prst="line">
            <a:avLst/>
          </a:prstGeom>
          <a:ln w="2286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6112" y="315468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84448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22282C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14800"/>
            <a:ext cx="3063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Combine the feature representations of two missiles.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50791" y="3246120"/>
            <a:ext cx="274321" cy="0"/>
          </a:xfrm>
          <a:prstGeom prst="line">
            <a:avLst/>
          </a:prstGeom>
          <a:ln w="1524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3712" y="315468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584448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22282C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114800"/>
            <a:ext cx="3063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A learned function produces a raw attention score.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08392" y="3246120"/>
            <a:ext cx="274320" cy="0"/>
          </a:xfrm>
          <a:prstGeom prst="line">
            <a:avLst/>
          </a:prstGeom>
          <a:ln w="1524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11312" y="315468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3584448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22282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114800"/>
            <a:ext cx="3063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Softmax converts scores into weights that sum to 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394960"/>
            <a:ext cx="102412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A high weight means “use more of this other missile’s signal”—not necessarily “this other missile is always more important.”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04B / GRAPH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Message passing builds a missile-team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attention weights are used to combine information from connected missiles.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4241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500" b="1" i="0">
                <a:solidFill>
                  <a:srgbClr val="22282C"/>
                </a:solidFill>
                <a:latin typeface="Aptos"/>
              </a:defRPr>
            </a:pPr>
            <a:r>
              <a:t>hᵢ(aggregated)  =  Σⱼ αᵢⱼ · W hⱼ</a:t>
            </a:r>
          </a:p>
        </p:txBody>
      </p:sp>
      <p:sp>
        <p:nvSpPr>
          <p:cNvPr id="9" name="Oval 8"/>
          <p:cNvSpPr/>
          <p:nvPr/>
        </p:nvSpPr>
        <p:spPr>
          <a:xfrm>
            <a:off x="1106424" y="3026663"/>
            <a:ext cx="438912" cy="438912"/>
          </a:xfrm>
          <a:prstGeom prst="ellipse">
            <a:avLst/>
          </a:prstGeom>
          <a:solidFill>
            <a:srgbClr val="E1EEEB"/>
          </a:solidFill>
          <a:ln w="1651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099816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Other missile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56432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αᵢA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3502152"/>
            <a:ext cx="0" cy="566928"/>
          </a:xfrm>
          <a:prstGeom prst="line">
            <a:avLst/>
          </a:prstGeom>
          <a:ln w="1905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5880" y="4069080"/>
            <a:ext cx="2560320" cy="0"/>
          </a:xfrm>
          <a:prstGeom prst="line">
            <a:avLst/>
          </a:prstGeom>
          <a:ln w="1524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980944" y="3026663"/>
            <a:ext cx="438912" cy="438912"/>
          </a:xfrm>
          <a:prstGeom prst="ellipse">
            <a:avLst/>
          </a:prstGeom>
          <a:solidFill>
            <a:srgbClr val="E1EEEB"/>
          </a:solidFill>
          <a:ln w="1651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39" y="3099816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Other missile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456432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αᵢB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0" y="3502152"/>
            <a:ext cx="0" cy="566928"/>
          </a:xfrm>
          <a:prstGeom prst="line">
            <a:avLst/>
          </a:prstGeom>
          <a:ln w="1905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00400" y="4069080"/>
            <a:ext cx="685800" cy="0"/>
          </a:xfrm>
          <a:prstGeom prst="line">
            <a:avLst/>
          </a:prstGeom>
          <a:ln w="1524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55464" y="3026663"/>
            <a:ext cx="438912" cy="438912"/>
          </a:xfrm>
          <a:prstGeom prst="ellipse">
            <a:avLst/>
          </a:prstGeom>
          <a:solidFill>
            <a:srgbClr val="E1EEEB"/>
          </a:solidFill>
          <a:ln w="1651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59" y="3099816"/>
            <a:ext cx="914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Other missile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3456432"/>
            <a:ext cx="914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00716C"/>
                </a:solidFill>
                <a:latin typeface="Aptos"/>
              </a:defRPr>
            </a:pPr>
            <a:r>
              <a:t>αᵢC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502152"/>
            <a:ext cx="0" cy="566928"/>
          </a:xfrm>
          <a:prstGeom prst="line">
            <a:avLst/>
          </a:prstGeom>
          <a:ln w="1905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886200" y="4069080"/>
            <a:ext cx="1188720" cy="0"/>
          </a:xfrm>
          <a:prstGeom prst="line">
            <a:avLst/>
          </a:prstGeom>
          <a:ln w="1524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886200" y="370332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69080" y="3913632"/>
            <a:ext cx="2377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 i="0">
                <a:solidFill>
                  <a:srgbClr val="00716C"/>
                </a:solidFill>
                <a:latin typeface="Aptos"/>
              </a:defRPr>
            </a:pPr>
            <a:r>
              <a:t>Weighted combination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9400" y="4069080"/>
            <a:ext cx="868679" cy="0"/>
          </a:xfrm>
          <a:prstGeom prst="line">
            <a:avLst/>
          </a:prstGeom>
          <a:ln w="2286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79" y="3703320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3913632"/>
            <a:ext cx="2651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Team-aware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07492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representation retains the missile’s own identity while adding context about the rest of the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05 / ACTOR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Turn the enriched representation into target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The actor outputs target scores; Softmax converts them into probabilities.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941831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1831" y="334213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1" y="4050791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39" y="3703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22282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Oval 11"/>
          <p:cNvSpPr/>
          <p:nvPr/>
        </p:nvSpPr>
        <p:spPr>
          <a:xfrm>
            <a:off x="2724912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24912" y="310591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724912" y="357835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24912" y="405079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3703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22282C"/>
                </a:solidFill>
                <a:latin typeface="Aptos"/>
              </a:defRPr>
            </a:pPr>
            <a:r>
              <a:t>Hidden layer</a:t>
            </a:r>
          </a:p>
        </p:txBody>
      </p:sp>
      <p:sp>
        <p:nvSpPr>
          <p:cNvPr id="17" name="Oval 16"/>
          <p:cNvSpPr/>
          <p:nvPr/>
        </p:nvSpPr>
        <p:spPr>
          <a:xfrm>
            <a:off x="4599432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99432" y="310591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599432" y="357835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99432" y="405079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3703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22282C"/>
                </a:solidFill>
                <a:latin typeface="Aptos"/>
              </a:defRPr>
            </a:pPr>
            <a:r>
              <a:t>Hidden layer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633472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9672" y="3342132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19672" y="4050791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370332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 i="0">
                <a:solidFill>
                  <a:srgbClr val="22282C"/>
                </a:solidFill>
                <a:latin typeface="Aptos"/>
              </a:defRPr>
            </a:pPr>
            <a:r>
              <a:t>Target outputs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70431" y="2743200"/>
            <a:ext cx="1545337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70431" y="2743200"/>
            <a:ext cx="1545337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0431" y="2743200"/>
            <a:ext cx="1545337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70431" y="2743200"/>
            <a:ext cx="1545337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70431" y="2743200"/>
            <a:ext cx="1545337" cy="70866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70431" y="3215640"/>
            <a:ext cx="1545337" cy="2362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70431" y="3451860"/>
            <a:ext cx="1545337" cy="2362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70431" y="3451860"/>
            <a:ext cx="1545337" cy="70866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170431" y="2743200"/>
            <a:ext cx="1545337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70431" y="3215640"/>
            <a:ext cx="1545337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70431" y="3688080"/>
            <a:ext cx="1545337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70431" y="4160520"/>
            <a:ext cx="1545337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953512" y="2743200"/>
            <a:ext cx="163677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53512" y="274320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953512" y="2743200"/>
            <a:ext cx="163677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53512" y="2743200"/>
            <a:ext cx="1636776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953512" y="274320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53512" y="3215640"/>
            <a:ext cx="163677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53512" y="321564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53512" y="3215640"/>
            <a:ext cx="163677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953512" y="2743200"/>
            <a:ext cx="163677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953512" y="321564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53512" y="3688080"/>
            <a:ext cx="163677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53512" y="368808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953512" y="2743200"/>
            <a:ext cx="1636776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953512" y="3215640"/>
            <a:ext cx="163677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953512" y="3688080"/>
            <a:ext cx="163677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953512" y="4160520"/>
            <a:ext cx="163677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828032" y="2743200"/>
            <a:ext cx="168249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28032" y="2743200"/>
            <a:ext cx="1682496" cy="70866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828032" y="2743200"/>
            <a:ext cx="1682496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828032" y="2743200"/>
            <a:ext cx="168249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828032" y="3215640"/>
            <a:ext cx="1682496" cy="2362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828032" y="3215640"/>
            <a:ext cx="168249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828032" y="2743200"/>
            <a:ext cx="1682496" cy="94488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28032" y="3451860"/>
            <a:ext cx="1682496" cy="2362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28032" y="3688080"/>
            <a:ext cx="1682496" cy="47244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828032" y="2743200"/>
            <a:ext cx="1682496" cy="141732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28032" y="3451860"/>
            <a:ext cx="1682496" cy="70866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28032" y="4160520"/>
            <a:ext cx="1682496" cy="0"/>
          </a:xfrm>
          <a:prstGeom prst="line">
            <a:avLst/>
          </a:prstGeom>
          <a:ln w="8890">
            <a:solidFill>
              <a:srgbClr val="C5D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41831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41831" y="334213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41831" y="4050791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724912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724912" y="310591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724912" y="357835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724912" y="405079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599432" y="263347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599432" y="310591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599432" y="357835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4599432" y="4050792"/>
            <a:ext cx="219456" cy="219456"/>
          </a:xfrm>
          <a:prstGeom prst="ellipse">
            <a:avLst/>
          </a:prstGeom>
          <a:solidFill>
            <a:srgbClr val="FAFAF7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19672" y="2633472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6519672" y="3342132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519672" y="4050791"/>
            <a:ext cx="219456" cy="219456"/>
          </a:xfrm>
          <a:prstGeom prst="ellipse">
            <a:avLst/>
          </a:prstGeom>
          <a:solidFill>
            <a:srgbClr val="00716C"/>
          </a:solidFill>
          <a:ln w="1524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21040" y="228600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2880360"/>
            <a:ext cx="1051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64040" y="2916936"/>
            <a:ext cx="1417320" cy="146304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464040" y="2916936"/>
            <a:ext cx="1255340" cy="146304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972800" y="2862072"/>
            <a:ext cx="411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0.62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3611880"/>
            <a:ext cx="1051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64040" y="3648456"/>
            <a:ext cx="1417320" cy="146304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464040" y="3648456"/>
            <a:ext cx="506185" cy="146304"/>
          </a:xfrm>
          <a:prstGeom prst="rect">
            <a:avLst/>
          </a:prstGeom>
          <a:solidFill>
            <a:srgbClr val="9C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972800" y="3593592"/>
            <a:ext cx="411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4343400"/>
            <a:ext cx="1051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64040" y="4379976"/>
            <a:ext cx="1417320" cy="146304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464040" y="4379976"/>
            <a:ext cx="263216" cy="146304"/>
          </a:xfrm>
          <a:prstGeom prst="rect">
            <a:avLst/>
          </a:prstGeom>
          <a:solidFill>
            <a:srgbClr val="9CB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972800" y="4325112"/>
            <a:ext cx="411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6112" y="5074920"/>
            <a:ext cx="104241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Softmax turns raw scores (logits) into probabilities. Training may sample an action; deployment may choose the highest-probability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05A / ACTOR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Target scores become probabilities after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actor first produces logits, then converts them into a distribution over targets.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297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RAW LOGITS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2596896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57400" y="2596896"/>
            <a:ext cx="2194560" cy="164592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542032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18687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3255263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057400" y="3255263"/>
            <a:ext cx="1005840" cy="164592"/>
          </a:xfrm>
          <a:prstGeom prst="rect">
            <a:avLst/>
          </a:prstGeom>
          <a:solidFill>
            <a:srgbClr val="9FB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3200399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77056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3913632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57400" y="3913632"/>
            <a:ext cx="182880" cy="164592"/>
          </a:xfrm>
          <a:prstGeom prst="rect">
            <a:avLst/>
          </a:prstGeom>
          <a:solidFill>
            <a:srgbClr val="9FB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858768"/>
            <a:ext cx="457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2240280"/>
            <a:ext cx="0" cy="2468880"/>
          </a:xfrm>
          <a:prstGeom prst="line">
            <a:avLst/>
          </a:prstGeom>
          <a:ln w="1270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0" y="2011680"/>
            <a:ext cx="4389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AFTER SOFTMAX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60320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2596896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06640" y="2596896"/>
            <a:ext cx="1711756" cy="164592"/>
          </a:xfrm>
          <a:prstGeom prst="rect">
            <a:avLst/>
          </a:prstGeom>
          <a:solidFill>
            <a:srgbClr val="0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21240" y="2542032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18687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255263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3255263"/>
            <a:ext cx="427939" cy="164592"/>
          </a:xfrm>
          <a:prstGeom prst="rect">
            <a:avLst/>
          </a:prstGeom>
          <a:solidFill>
            <a:srgbClr val="9FB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3200399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77056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Target 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913632"/>
            <a:ext cx="2377440" cy="164592"/>
          </a:xfrm>
          <a:prstGeom prst="rect">
            <a:avLst/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0" y="3913632"/>
            <a:ext cx="237744" cy="164592"/>
          </a:xfrm>
          <a:prstGeom prst="rect">
            <a:avLst/>
          </a:prstGeom>
          <a:solidFill>
            <a:srgbClr val="9FB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3858768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0.08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166360"/>
            <a:ext cx="102412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Logits can be any real values; probabilities lie between 0 and 1 and sum to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06A / ASSIGNMENT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A policy produces one choice per missile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reward evaluates the complete assignment, not just each choice in isolation.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6400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00716C"/>
                </a:solidFill>
                <a:latin typeface="Aptos"/>
              </a:defRPr>
            </a:pPr>
            <a:r>
              <a:t>M0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286000"/>
            <a:ext cx="1920239" cy="0"/>
          </a:xfrm>
          <a:prstGeom prst="line">
            <a:avLst/>
          </a:prstGeom>
          <a:ln w="1651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77639" y="2148840"/>
            <a:ext cx="12801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98648"/>
            <a:ext cx="6400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00716C"/>
                </a:solidFill>
                <a:latin typeface="Aptos"/>
              </a:defRPr>
            </a:pPr>
            <a:r>
              <a:t>M1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3035808"/>
            <a:ext cx="1920239" cy="0"/>
          </a:xfrm>
          <a:prstGeom prst="line">
            <a:avLst/>
          </a:prstGeom>
          <a:ln w="1651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77639" y="2898648"/>
            <a:ext cx="12801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Target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6400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00716C"/>
                </a:solidFill>
                <a:latin typeface="Aptos"/>
              </a:defRPr>
            </a:pPr>
            <a:r>
              <a:t>M2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3785616"/>
            <a:ext cx="1920239" cy="0"/>
          </a:xfrm>
          <a:prstGeom prst="line">
            <a:avLst/>
          </a:prstGeom>
          <a:ln w="1651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77639" y="3648456"/>
            <a:ext cx="12801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Target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98264"/>
            <a:ext cx="6400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00716C"/>
                </a:solidFill>
                <a:latin typeface="Aptos"/>
              </a:defRPr>
            </a:pPr>
            <a:r>
              <a:t>M3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4535424"/>
            <a:ext cx="1920239" cy="0"/>
          </a:xfrm>
          <a:prstGeom prst="line">
            <a:avLst/>
          </a:prstGeom>
          <a:ln w="1651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977639" y="4398264"/>
            <a:ext cx="128016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57400"/>
            <a:ext cx="4114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ASSIGNMENT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06040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22282C"/>
                </a:solidFill>
                <a:latin typeface="Aptos"/>
              </a:defRPr>
            </a:pPr>
            <a:r>
              <a:t>Target A</a:t>
            </a:r>
          </a:p>
        </p:txBody>
      </p:sp>
      <p:sp>
        <p:nvSpPr>
          <p:cNvPr id="22" name="Oval 21"/>
          <p:cNvSpPr/>
          <p:nvPr/>
        </p:nvSpPr>
        <p:spPr>
          <a:xfrm>
            <a:off x="8129016" y="2624328"/>
            <a:ext cx="201168" cy="201168"/>
          </a:xfrm>
          <a:prstGeom prst="ellipse">
            <a:avLst/>
          </a:prstGeom>
          <a:solidFill>
            <a:srgbClr val="00716C"/>
          </a:solidFill>
          <a:ln w="1143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76488" y="2624328"/>
            <a:ext cx="201168" cy="201168"/>
          </a:xfrm>
          <a:prstGeom prst="ellipse">
            <a:avLst/>
          </a:prstGeom>
          <a:solidFill>
            <a:srgbClr val="00716C"/>
          </a:solidFill>
          <a:ln w="1143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587752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2 missile(s)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355848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22282C"/>
                </a:solidFill>
                <a:latin typeface="Aptos"/>
              </a:defRPr>
            </a:pPr>
            <a:r>
              <a:t>Target B</a:t>
            </a:r>
          </a:p>
        </p:txBody>
      </p:sp>
      <p:sp>
        <p:nvSpPr>
          <p:cNvPr id="26" name="Oval 25"/>
          <p:cNvSpPr/>
          <p:nvPr/>
        </p:nvSpPr>
        <p:spPr>
          <a:xfrm>
            <a:off x="8129016" y="3374136"/>
            <a:ext cx="201168" cy="201168"/>
          </a:xfrm>
          <a:prstGeom prst="ellipse">
            <a:avLst/>
          </a:prstGeom>
          <a:solidFill>
            <a:srgbClr val="E1EEEB"/>
          </a:solidFill>
          <a:ln w="1143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3337560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1 missile(s)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05656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 i="0">
                <a:solidFill>
                  <a:srgbClr val="22282C"/>
                </a:solidFill>
                <a:latin typeface="Aptos"/>
              </a:defRPr>
            </a:pPr>
            <a:r>
              <a:t>Target C</a:t>
            </a:r>
          </a:p>
        </p:txBody>
      </p:sp>
      <p:sp>
        <p:nvSpPr>
          <p:cNvPr id="29" name="Oval 28"/>
          <p:cNvSpPr/>
          <p:nvPr/>
        </p:nvSpPr>
        <p:spPr>
          <a:xfrm>
            <a:off x="8129016" y="4123944"/>
            <a:ext cx="201168" cy="201168"/>
          </a:xfrm>
          <a:prstGeom prst="ellipse">
            <a:avLst/>
          </a:prstGeom>
          <a:solidFill>
            <a:srgbClr val="E1EEEB"/>
          </a:solidFill>
          <a:ln w="1143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408736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1 missile(s)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486400"/>
            <a:ext cx="10241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1">
                <a:solidFill>
                  <a:srgbClr val="71797D"/>
                </a:solidFill>
                <a:latin typeface="Aptos"/>
              </a:defRPr>
            </a:pPr>
            <a:r>
              <a:t>This is a simple illustration of target coverage and duplication—not a claim that this assignment is globally optimal.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06 / REWARD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The reward tells the model what “better”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It evaluates the team outcome rather than supplying a labelled correct answer.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ENCOURAGE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48463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B58431"/>
                </a:solidFill>
                <a:latin typeface="Aptos"/>
              </a:defRPr>
            </a:pPr>
            <a:r>
              <a:t>DISCOURAGE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06040"/>
            <a:ext cx="2560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Reach more distinct targets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200400"/>
            <a:ext cx="44805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474720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2560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Complete higher-value targets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4069080"/>
            <a:ext cx="44805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343400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25603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Reduce total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Duplication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06040"/>
            <a:ext cx="2560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Several missiles choosing the same target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3337560"/>
            <a:ext cx="457200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60" y="3749039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Waste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49039"/>
            <a:ext cx="256032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Unnecessary travel or cost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2057400"/>
            <a:ext cx="0" cy="3108960"/>
          </a:xfrm>
          <a:prstGeom prst="line">
            <a:avLst/>
          </a:prstGeom>
          <a:ln w="1270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6112" y="557784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1" i="0">
                <a:solidFill>
                  <a:srgbClr val="22282C"/>
                </a:solidFill>
                <a:latin typeface="Aptos"/>
              </a:defRPr>
            </a:pPr>
            <a:r>
              <a:t>Important: the model learns the objective we encode, so reward weights strongly affect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07 / POLICY-GRADIENT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A repeated feedback loop updates the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REINFORCE with a baseline compares each outcome with a running average.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1572768" y="2212848"/>
            <a:ext cx="512064" cy="512064"/>
          </a:xfrm>
          <a:prstGeom prst="ellipse">
            <a:avLst/>
          </a:prstGeom>
          <a:solidFill>
            <a:srgbClr val="00716C"/>
          </a:solidFill>
          <a:ln w="1778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359152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Choose actions from current probabilities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468880"/>
            <a:ext cx="2011680" cy="0"/>
          </a:xfrm>
          <a:prstGeom prst="line">
            <a:avLst/>
          </a:prstGeom>
          <a:ln w="22860">
            <a:solidFill>
              <a:srgbClr val="AA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315968" y="2212848"/>
            <a:ext cx="512064" cy="512064"/>
          </a:xfrm>
          <a:prstGeom prst="ellipse">
            <a:avLst/>
          </a:prstGeom>
          <a:solidFill>
            <a:srgbClr val="FAFAF7"/>
          </a:solidFill>
          <a:ln w="1778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359152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718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29000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Score the resulting team assignment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2468880"/>
            <a:ext cx="2011680" cy="0"/>
          </a:xfrm>
          <a:prstGeom prst="line">
            <a:avLst/>
          </a:prstGeom>
          <a:ln w="22860">
            <a:solidFill>
              <a:srgbClr val="AA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059168" y="2212848"/>
            <a:ext cx="512064" cy="512064"/>
          </a:xfrm>
          <a:prstGeom prst="ellipse">
            <a:avLst/>
          </a:prstGeom>
          <a:solidFill>
            <a:srgbClr val="FAFAF7"/>
          </a:solidFill>
          <a:ln w="1778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359152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718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Advantage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29000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Compare reward with baseline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35240" y="2468880"/>
            <a:ext cx="2011680" cy="0"/>
          </a:xfrm>
          <a:prstGeom prst="line">
            <a:avLst/>
          </a:prstGeom>
          <a:ln w="22860">
            <a:solidFill>
              <a:srgbClr val="AA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802368" y="2212848"/>
            <a:ext cx="512064" cy="512064"/>
          </a:xfrm>
          <a:prstGeom prst="ellipse">
            <a:avLst/>
          </a:prstGeom>
          <a:solidFill>
            <a:srgbClr val="00716C"/>
          </a:solidFill>
          <a:ln w="1778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2359152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718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29000"/>
            <a:ext cx="173736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0" i="0">
                <a:solidFill>
                  <a:srgbClr val="71797D"/>
                </a:solidFill>
                <a:latin typeface="Aptos"/>
              </a:defRPr>
            </a:pPr>
            <a:r>
              <a:t>Adjust weights using gradients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0" y="4343400"/>
            <a:ext cx="0" cy="457200"/>
          </a:xfrm>
          <a:prstGeom prst="line">
            <a:avLst/>
          </a:prstGeom>
          <a:ln w="1905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828800" y="4800600"/>
            <a:ext cx="8229600" cy="0"/>
          </a:xfrm>
          <a:prstGeom prst="line">
            <a:avLst/>
          </a:prstGeom>
          <a:ln w="1905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 flipV="1">
            <a:off x="1828800" y="3932903"/>
            <a:ext cx="0" cy="867697"/>
          </a:xfrm>
          <a:prstGeom prst="line">
            <a:avLst/>
          </a:prstGeom>
          <a:ln w="1905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69080" y="5010912"/>
            <a:ext cx="3840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300" b="1" i="0">
                <a:solidFill>
                  <a:srgbClr val="00716C"/>
                </a:solidFill>
                <a:latin typeface="Aptos"/>
              </a:defRPr>
            </a:pPr>
            <a:r>
              <a:t>Repeat across many training episodes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62356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Positive advantage strengthens the sampled choices; negative advantage weakens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07A / POLICY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Advantage compares assignment reward with 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 baseline helps the learner judge whether an outcome was better or worse than usual.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101498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400" b="1" i="0">
                <a:solidFill>
                  <a:srgbClr val="22282C"/>
                </a:solidFill>
                <a:latin typeface="Aptos"/>
              </a:defRPr>
            </a:pPr>
            <a:r>
              <a:t>Advantage = observed reward − baseline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3429000"/>
            <a:ext cx="9509760" cy="0"/>
          </a:xfrm>
          <a:prstGeom prst="line">
            <a:avLst/>
          </a:prstGeom>
          <a:ln w="25400">
            <a:solidFill>
              <a:srgbClr val="AEB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108960"/>
            <a:ext cx="0" cy="640079"/>
          </a:xfrm>
          <a:prstGeom prst="line">
            <a:avLst/>
          </a:prstGeom>
          <a:ln w="19050">
            <a:solidFill>
              <a:srgbClr val="2228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60" y="3840480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 i="0">
                <a:solidFill>
                  <a:srgbClr val="71797D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Oval 11"/>
          <p:cNvSpPr/>
          <p:nvPr/>
        </p:nvSpPr>
        <p:spPr>
          <a:xfrm>
            <a:off x="2715768" y="3310128"/>
            <a:ext cx="237744" cy="237744"/>
          </a:xfrm>
          <a:prstGeom prst="ellipse">
            <a:avLst/>
          </a:prstGeom>
          <a:solidFill>
            <a:srgbClr val="B58431"/>
          </a:solidFill>
          <a:ln w="12700">
            <a:solidFill>
              <a:srgbClr val="B58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42248" y="3310128"/>
            <a:ext cx="237744" cy="237744"/>
          </a:xfrm>
          <a:prstGeom prst="ellipse">
            <a:avLst/>
          </a:prstGeom>
          <a:solidFill>
            <a:srgbClr val="00716C"/>
          </a:solidFill>
          <a:ln w="12700"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269748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 i="0">
                <a:solidFill>
                  <a:srgbClr val="B58431"/>
                </a:solidFill>
                <a:latin typeface="Aptos"/>
              </a:defRPr>
            </a:pPr>
            <a:r>
              <a:t>Below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9748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500" b="1" i="0">
                <a:solidFill>
                  <a:srgbClr val="00716C"/>
                </a:solidFill>
                <a:latin typeface="Aptos"/>
              </a:defRPr>
            </a:pPr>
            <a:r>
              <a:t>Above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39319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Negative advantage: reduce the likelihood of the sampled choices.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39319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Positive advantage: reinforce the likelihood of the sampled choices.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577840"/>
            <a:ext cx="101498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1">
                <a:solidFill>
                  <a:srgbClr val="71797D"/>
                </a:solidFill>
                <a:latin typeface="Aptos"/>
              </a:defRPr>
            </a:pPr>
            <a:r>
              <a:t>The baseline is a learning aid; it is not a target assignment or ground-truth label.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08A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Training progress is not the same as simulation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A reward signal can guide learning, but the resulting policy still needs to be tested.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DURING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47548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22282C"/>
                </a:solidFill>
                <a:latin typeface="Aptos"/>
              </a:defRPr>
            </a:pPr>
            <a:r>
              <a:t>The policy learns from reward feedback.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54680"/>
            <a:ext cx="457200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Actions are sampled, outcomes are scored, and network weights are updated.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057400"/>
            <a:ext cx="0" cy="2971800"/>
          </a:xfrm>
          <a:prstGeom prst="line">
            <a:avLst/>
          </a:prstGeom>
          <a:ln w="1270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2011680"/>
            <a:ext cx="4663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B58431"/>
                </a:solidFill>
                <a:latin typeface="Aptos"/>
              </a:defRPr>
            </a:pPr>
            <a:r>
              <a:t>DURING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75488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 i="0">
                <a:solidFill>
                  <a:srgbClr val="22282C"/>
                </a:solidFill>
                <a:latin typeface="Aptos"/>
              </a:defRPr>
            </a:pPr>
            <a:r>
              <a:t>The policy is tested on scenarios it did not train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57200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Measure target coverage, duplication, total cost, stability, and performance under changed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800600"/>
            <a:ext cx="10241280" cy="566928"/>
          </a:xfrm>
          <a:prstGeom prst="roundRect">
            <a:avLst>
              <a:gd name="adj" fmla="val 8000"/>
            </a:avLst>
          </a:prstGeom>
          <a:solidFill>
            <a:srgbClr val="EF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56048"/>
            <a:ext cx="9784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 i="0">
                <a:solidFill>
                  <a:srgbClr val="22282C"/>
                </a:solidFill>
                <a:latin typeface="Aptos"/>
              </a:defRPr>
            </a:pPr>
            <a:r>
              <a:t>Do not infer generalization from a small number of training episodes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08 / SYSTEM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900" b="1" i="0">
                <a:solidFill>
                  <a:srgbClr val="22282C"/>
                </a:solidFill>
                <a:latin typeface="Aptos"/>
              </a:defRPr>
            </a:pPr>
            <a:r>
              <a:t>The model decides; the execution layer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Keeping these responsibilities separate makes the architecture easier to reason about.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297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LEARNING / DECISION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023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000" b="1" i="0">
                <a:solidFill>
                  <a:srgbClr val="22282C"/>
                </a:solidFill>
                <a:latin typeface="Aptos"/>
              </a:defRPr>
            </a:pPr>
            <a:r>
              <a:t>Observations + team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4023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0" i="0">
                <a:solidFill>
                  <a:srgbClr val="71797D"/>
                </a:solidFill>
                <a:latin typeface="Aptos"/>
              </a:defRPr>
            </a:pPr>
            <a:r>
              <a:t>↓  Graph attention +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069080"/>
            <a:ext cx="4114800" cy="685800"/>
          </a:xfrm>
          <a:prstGeom prst="rect">
            <a:avLst/>
          </a:prstGeom>
          <a:solidFill>
            <a:srgbClr val="E1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251960"/>
            <a:ext cx="3703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 i="0">
                <a:solidFill>
                  <a:srgbClr val="00716C"/>
                </a:solidFill>
                <a:latin typeface="Aptos"/>
              </a:defRPr>
            </a:pPr>
            <a:r>
              <a:t>Output: selected target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4407408"/>
            <a:ext cx="1371600" cy="0"/>
          </a:xfrm>
          <a:prstGeom prst="line">
            <a:avLst/>
          </a:prstGeom>
          <a:ln w="25400">
            <a:solidFill>
              <a:srgbClr val="007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0" y="3977639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 i="0">
                <a:solidFill>
                  <a:srgbClr val="71797D"/>
                </a:solidFill>
                <a:latin typeface="Aptos"/>
              </a:defRPr>
            </a:pPr>
            <a:r>
              <a:t>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011680"/>
            <a:ext cx="4297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000" b="1" i="0">
                <a:solidFill>
                  <a:srgbClr val="B58431"/>
                </a:solidFill>
                <a:latin typeface="Aptos"/>
              </a:defRPr>
            </a:pPr>
            <a:r>
              <a:t>EXECUTION /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06040"/>
            <a:ext cx="4023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000" b="1" i="0">
                <a:solidFill>
                  <a:srgbClr val="22282C"/>
                </a:solidFill>
                <a:latin typeface="Aptos"/>
              </a:defRPr>
            </a:pPr>
            <a:r>
              <a:t>Target-specific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246120"/>
            <a:ext cx="40233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Uses the selected target to carry out the action and report updated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251960"/>
            <a:ext cx="3931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New observations → next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532120"/>
            <a:ext cx="103327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300" b="0" i="1">
                <a:solidFill>
                  <a:srgbClr val="71797D"/>
                </a:solidFill>
                <a:latin typeface="Aptos"/>
              </a:defRPr>
            </a:pPr>
            <a:r>
              <a:t>The ML output is an assignment. It does not, by itself, execute the physical action.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09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 i="0">
                <a:solidFill>
                  <a:srgbClr val="22282C"/>
                </a:solidFill>
                <a:latin typeface="Aptos"/>
              </a:defRPr>
            </a:pPr>
            <a:r>
              <a:t>Assumptions in the missile-assignment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 i="0">
                <a:solidFill>
                  <a:srgbClr val="71797D"/>
                </a:solidFill>
                <a:latin typeface="Aptos"/>
              </a:defRPr>
            </a:pPr>
            <a:r>
              <a:t>These assumptions matter when interpreting a demonstration or reported result.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65960"/>
            <a:ext cx="2377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Shared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965960"/>
            <a:ext cx="62179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graph reflects which missiles can exchange messages.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560320"/>
            <a:ext cx="99669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2816352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6352"/>
            <a:ext cx="2377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Defined 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816352"/>
            <a:ext cx="62179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The reward weights determine the trade-off between target coverage and cost.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410712"/>
            <a:ext cx="99669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666744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666744"/>
            <a:ext cx="2377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Changing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666744"/>
            <a:ext cx="62179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If missiles disappear, features and graph connections must be updated.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261104"/>
            <a:ext cx="996696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517136"/>
            <a:ext cx="502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 i="0">
                <a:solidFill>
                  <a:srgbClr val="0071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517136"/>
            <a:ext cx="23774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 i="0">
                <a:solidFill>
                  <a:srgbClr val="22282C"/>
                </a:solidFill>
                <a:latin typeface="Aptos"/>
              </a:defRPr>
            </a:pPr>
            <a:r>
              <a:t>Measured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517136"/>
            <a:ext cx="62179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Runtime and accuracy claims need reproducible tests.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623560"/>
            <a:ext cx="10241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 i="1">
                <a:solidFill>
                  <a:srgbClr val="71797D"/>
                </a:solidFill>
                <a:latin typeface="Aptos"/>
              </a:defRPr>
            </a:pPr>
            <a:r>
              <a:t>Keep illustrative numbers, experimental results, and assumptions clearly separated.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00716C"/>
                </a:solidFill>
                <a:latin typeface="Aptos"/>
              </a:defRPr>
            </a:pPr>
            <a:r>
              <a:t>02A / RELATIVE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800" b="1">
                <a:solidFill>
                  <a:srgbClr val="22282C"/>
                </a:solidFill>
                <a:latin typeface="Aptos"/>
              </a:defRPr>
            </a:pPr>
            <a:r>
              <a:t>What the model observes about each missile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71797D"/>
                </a:solidFill>
                <a:latin typeface="Aptos"/>
              </a:defRPr>
            </a:pPr>
            <a:r>
              <a:t>A conceptual simulation can represent the situation using relative position and target geometry.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6382512"/>
            <a:ext cx="10881360" cy="0"/>
          </a:xfrm>
          <a:prstGeom prst="line">
            <a:avLst/>
          </a:prstGeom>
          <a:ln w="889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473952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800" b="1">
                <a:solidFill>
                  <a:srgbClr val="71797D"/>
                </a:solidFill>
                <a:latin typeface="Aptos"/>
              </a:defRPr>
            </a:pPr>
            <a:r>
              <a:t>MISSILE-TEAM LEARNING  /  CONCEPTUAL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7179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1682496" y="3145536"/>
            <a:ext cx="292608" cy="292608"/>
          </a:xfrm>
          <a:prstGeom prst="ellipse">
            <a:avLst/>
          </a:prstGeom>
          <a:solidFill>
            <a:srgbClr val="00716C"/>
          </a:solidFill>
          <a:ln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611880"/>
            <a:ext cx="1188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00716C"/>
                </a:solidFill>
                <a:latin typeface="Aptos"/>
              </a:defRPr>
            </a:pPr>
            <a:r>
              <a:t>Missile M0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2331720"/>
            <a:ext cx="274320" cy="274320"/>
          </a:xfrm>
          <a:prstGeom prst="ellipse">
            <a:avLst/>
          </a:prstGeom>
          <a:solidFill>
            <a:srgbClr val="FAFAF7"/>
          </a:solidFill>
          <a:ln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269748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1">
                <a:solidFill>
                  <a:srgbClr val="22282C"/>
                </a:solidFill>
                <a:latin typeface="Aptos"/>
              </a:defRPr>
            </a:pPr>
            <a:r>
              <a:t>Target T0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28800" y="2468880"/>
            <a:ext cx="2743200" cy="822960"/>
          </a:xfrm>
          <a:prstGeom prst="line">
            <a:avLst/>
          </a:prstGeom>
          <a:ln w="1778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800600" y="3794759"/>
            <a:ext cx="274320" cy="274320"/>
          </a:xfrm>
          <a:prstGeom prst="ellipse">
            <a:avLst/>
          </a:prstGeom>
          <a:solidFill>
            <a:srgbClr val="FAFAF7"/>
          </a:solidFill>
          <a:ln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1">
                <a:solidFill>
                  <a:srgbClr val="22282C"/>
                </a:solidFill>
                <a:latin typeface="Aptos"/>
              </a:defRPr>
            </a:pPr>
            <a:r>
              <a:t>Target T1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3291840"/>
            <a:ext cx="3108960" cy="640080"/>
          </a:xfrm>
          <a:prstGeom prst="line">
            <a:avLst/>
          </a:prstGeom>
          <a:ln w="1778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37560" y="4663440"/>
            <a:ext cx="274320" cy="274320"/>
          </a:xfrm>
          <a:prstGeom prst="ellipse">
            <a:avLst/>
          </a:prstGeom>
          <a:solidFill>
            <a:srgbClr val="FAFAF7"/>
          </a:solidFill>
          <a:ln>
            <a:solidFill>
              <a:srgbClr val="00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5029200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1">
                <a:solidFill>
                  <a:srgbClr val="22282C"/>
                </a:solidFill>
                <a:latin typeface="Aptos"/>
              </a:defRPr>
            </a:pPr>
            <a:r>
              <a:t>Target T2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3291840"/>
            <a:ext cx="1645920" cy="1508760"/>
          </a:xfrm>
          <a:prstGeom prst="line">
            <a:avLst/>
          </a:prstGeom>
          <a:ln w="17780">
            <a:solidFill>
              <a:srgbClr val="A5CC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2148840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00716C"/>
                </a:solidFill>
                <a:latin typeface="Aptos"/>
              </a:defRPr>
            </a:pPr>
            <a:r>
              <a:t>RELATIVE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47548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>
                <a:solidFill>
                  <a:srgbClr val="22282C"/>
                </a:solidFill>
                <a:latin typeface="Aptos"/>
              </a:defRPr>
            </a:pPr>
            <a:r>
              <a:t>Distance to each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90672"/>
            <a:ext cx="457200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71797D"/>
                </a:solidFill>
                <a:latin typeface="Aptos"/>
              </a:defRPr>
            </a:pPr>
            <a:r>
              <a:t>How far the missile is from each target in the simulated scene.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3657600"/>
            <a:ext cx="4663440" cy="0"/>
          </a:xfrm>
          <a:prstGeom prst="line">
            <a:avLst/>
          </a:prstGeom>
          <a:ln w="1016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3913632"/>
            <a:ext cx="47548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800" b="1">
                <a:solidFill>
                  <a:srgbClr val="22282C"/>
                </a:solidFill>
                <a:latin typeface="Aptos"/>
              </a:defRPr>
            </a:pPr>
            <a:r>
              <a:t>Relative bearing / angle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52544"/>
            <a:ext cx="45720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71797D"/>
                </a:solidFill>
                <a:latin typeface="Aptos"/>
              </a:defRPr>
            </a:pPr>
            <a:r>
              <a:t>The direction from the missile’s reference heading toward a target, represented as a simulation input.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62356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71797D"/>
                </a:solidFill>
                <a:latin typeface="Aptos"/>
              </a:defRPr>
            </a:pPr>
            <a:r>
              <a:t>Schematic only—not to scale. Distance and bearing are shown as conceptual simulation features, not operational guidance instructions.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566928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3000" b="1" i="0">
                <a:solidFill>
                  <a:srgbClr val="22282C"/>
                </a:solidFill>
                <a:latin typeface="Aptos"/>
              </a:defRPr>
            </a:pPr>
            <a:r>
              <a:t>Coordination emerges from</a:t>
            </a:r>
            <a:br/>
            <a:r>
              <a:t>context, feedback and updates.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9808" y="2423160"/>
            <a:ext cx="10314432" cy="0"/>
          </a:xfrm>
          <a:prstGeom prst="line">
            <a:avLst/>
          </a:prstGeom>
          <a:ln w="12700">
            <a:solidFill>
              <a:srgbClr val="DAD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6112" y="2743200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743200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who can exchange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73552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3273552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which other-missile signals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03904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803904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which target is most promising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334256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334256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what outcomes are valued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64608"/>
            <a:ext cx="2194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500" b="1" i="0">
                <a:solidFill>
                  <a:srgbClr val="22282C"/>
                </a:solidFill>
                <a:latin typeface="Aptos"/>
              </a:defRPr>
            </a:pPr>
            <a:r>
              <a:t>Gradient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864608"/>
            <a:ext cx="5029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400" b="0" i="0">
                <a:solidFill>
                  <a:srgbClr val="71797D"/>
                </a:solidFill>
                <a:latin typeface="Aptos"/>
              </a:defRPr>
            </a:pPr>
            <a:r>
              <a:t>how the policy improves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6027" y="5476608"/>
            <a:ext cx="4011561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2200" b="1" i="0">
                <a:solidFill>
                  <a:srgbClr val="00716C"/>
                </a:solidFill>
                <a:latin typeface="Aptos"/>
              </a:defRPr>
            </a:pPr>
            <a:r>
              <a:rPr sz="4000" dirty="0"/>
              <a:t>Thank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446520"/>
            <a:ext cx="6400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800" b="1" i="0">
                <a:solidFill>
                  <a:srgbClr val="71797D"/>
                </a:solidFill>
                <a:latin typeface="Aptos"/>
              </a:defRPr>
            </a:pPr>
            <a:r>
              <a:t>MACHINE LEARNING  /  CONCEPTUAL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MACHINE LEARNING  /  CODE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05B / PYTORCH CORE: GAT LAYER &amp; POLICY GRADIENTS</a:t>
            </a:r>
          </a:p>
        </p:txBody>
      </p:sp>
      <p:pic>
        <p:nvPicPr>
          <p:cNvPr id="4" name="Picture 3" descr="code_ga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ML Architecture Highlights: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1F5F9"/>
                </a:solidFill>
              </a:rPr>
              <a:t>Residual Connection: </a:t>
            </a:r>
            <a:r>
              <a:rPr sz="1000">
                <a:solidFill>
                  <a:srgbClr val="94A3B8"/>
                </a:solidFill>
              </a:rPr>
              <a:t>h_out = [h_self || h_agg] ensures missiles maintain their individual identity, completely solving GNN over-smoothing.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1F5F9"/>
                </a:solidFill>
              </a:rPr>
              <a:t>Decentralized GAT: </a:t>
            </a:r>
            <a:r>
              <a:rPr sz="1000">
                <a:solidFill>
                  <a:srgbClr val="94A3B8"/>
                </a:solidFill>
              </a:rPr>
              <a:t>Calculates dynamic attention alpha_ij across live peer datalinks using LeakyReLU and Softmax.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1F5F9"/>
                </a:solidFill>
              </a:rPr>
              <a:t>REINFORCE with Baseline: </a:t>
            </a:r>
            <a:r>
              <a:rPr sz="1000">
                <a:solidFill>
                  <a:srgbClr val="94A3B8"/>
                </a:solidFill>
              </a:rPr>
              <a:t>Advantage A = R - b stabilizes policy gradient variance, ensuring reliable convergence without manual tuning.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F1F5F9"/>
                </a:solidFill>
              </a:rPr>
              <a:t>Zero Aerospace Equations: </a:t>
            </a:r>
            <a:r>
              <a:rPr sz="1000">
                <a:solidFill>
                  <a:srgbClr val="94A3B8"/>
                </a:solidFill>
              </a:rPr>
              <a:t>The neural network learns pure assignment logic without hardcoded if-else heuristics.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MACHINE LEARNING  /  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08B / QUANTITATIVE RESULTS: TERMINAL READINGS &amp; PROBABILITIES</a:t>
            </a:r>
          </a:p>
        </p:txBody>
      </p:sp>
      <p:pic>
        <p:nvPicPr>
          <p:cNvPr id="4" name="Picture 3" descr="terminal_training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pic>
        <p:nvPicPr>
          <p:cNvPr id="5" name="Picture 4" descr="minimal_allocation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463040"/>
            <a:ext cx="39319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SIMULATION &amp; BENCHMARKING  /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09B / LIVE SYSTEM DEMONSTRATION: UNIFIED DYNAMIC RADAR</a:t>
            </a:r>
          </a:p>
        </p:txBody>
      </p:sp>
      <p:pic>
        <p:nvPicPr>
          <p:cNvPr id="4" name="Picture 3" descr="viz2_cooperative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132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46304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Unified Dynamic GUI Features: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1F5F9"/>
                </a:solidFill>
              </a:rPr>
              <a:t>3 Scenarios in 1 Window: </a:t>
            </a:r>
            <a:r>
              <a:rPr sz="1000">
                <a:solidFill>
                  <a:srgbClr val="94A3B8"/>
                </a:solidFill>
              </a:rPr>
              <a:t>Toggle between Greedy Overkill, ML Cooperative Bifurcation, and Dynamic Attrition live.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1F5F9"/>
                </a:solidFill>
              </a:rPr>
              <a:t>Mid-Flight Kill Button: </a:t>
            </a:r>
            <a:r>
              <a:rPr sz="1000">
                <a:solidFill>
                  <a:srgbClr val="94A3B8"/>
                </a:solidFill>
              </a:rPr>
              <a:t>Click [KILL M1] or press '1' to shoot down a missile at any second. GAT dynamically re-allocates surviving missiles instantly!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1F5F9"/>
                </a:solidFill>
              </a:rPr>
              <a:t>Live Telemetry HUD: </a:t>
            </a:r>
            <a:r>
              <a:rPr sz="1000">
                <a:solidFill>
                  <a:srgbClr val="94A3B8"/>
                </a:solidFill>
              </a:rPr>
              <a:t>Real-time readings of X/Y positions, distances to T0/T1/T2, Fiedler eigenvalue lambda_2, and policy probabilities.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1F5F9"/>
                </a:solidFill>
              </a:rPr>
              <a:t>Local Launch Command: </a:t>
            </a:r>
            <a:r>
              <a:rPr sz="1000">
                <a:solidFill>
                  <a:srgbClr val="94A3B8"/>
                </a:solidFill>
              </a:rPr>
              <a:t>python unified_swarm_radar_gui.py</a:t>
            </a:r>
          </a:p>
          <a:p>
            <a:pPr>
              <a:spcBef>
                <a:spcPts val="1000"/>
              </a:spcBef>
            </a:pPr>
            <a:r>
              <a:rPr b="1" sz="1100">
                <a:solidFill>
                  <a:srgbClr val="F1F5F9"/>
                </a:solidFill>
              </a:rPr>
              <a:t>Google Colab Cloud Demo: </a:t>
            </a:r>
            <a:r>
              <a:rPr sz="1000">
                <a:solidFill>
                  <a:srgbClr val="94A3B8"/>
                </a:solidFill>
              </a:rPr>
              <a:t>Fully self-contained interactive notebook with complete PyTorch code and output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1573</Words>
  <Application>Microsoft Office PowerPoint</Application>
  <PresentationFormat>Widescreen</PresentationFormat>
  <Paragraphs>332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Sarat Nallabati</cp:lastModifiedBy>
  <cp:revision>2</cp:revision>
  <dcterms:created xsi:type="dcterms:W3CDTF">2013-01-27T09:14:16Z</dcterms:created>
  <dcterms:modified xsi:type="dcterms:W3CDTF">2026-10-14T18:18:21Z</dcterms:modified>
  <cp:category/>
</cp:coreProperties>
</file>