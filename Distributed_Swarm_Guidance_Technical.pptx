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14400" y="868680"/>
            <a:ext cx="10362895" cy="5120640"/>
          </a:xfrm>
          <a:prstGeom prst="roundRect">
            <a:avLst/>
          </a:prstGeom>
          <a:solidFill>
            <a:srgbClr val="F3ECE3"/>
          </a:solidFill>
          <a:ln w="1905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868680"/>
            <a:ext cx="10362895" cy="109728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280160"/>
            <a:ext cx="9265615" cy="2468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8B4513"/>
                </a:solidFill>
                <a:latin typeface="Segoe UI"/>
              </a:defRPr>
            </a:pPr>
            <a:r>
              <a:t>RESEARCH SPECIFICATION // MULTI-AGENT REINFORCEMENT &amp; GRAPH ARCHITECTURES</a:t>
            </a:r>
          </a:p>
          <a:p>
            <a:pPr>
              <a:spcBef>
                <a:spcPts val="400"/>
              </a:spcBef>
              <a:spcAft>
                <a:spcPts val="600"/>
              </a:spcAft>
              <a:defRPr sz="3600" b="1">
                <a:solidFill>
                  <a:srgbClr val="1E130B"/>
                </a:solidFill>
                <a:latin typeface="Segoe UI"/>
              </a:defRPr>
            </a:pPr>
            <a:r>
              <a:t>Decentralized Swarm Target Allocation</a:t>
            </a:r>
          </a:p>
          <a:p>
            <a:pPr>
              <a:spcAft>
                <a:spcPts val="1400"/>
              </a:spcAft>
              <a:defRPr sz="1600" b="1">
                <a:solidFill>
                  <a:srgbClr val="A0522D"/>
                </a:solidFill>
                <a:latin typeface="Segoe UI"/>
              </a:defRPr>
            </a:pPr>
            <a:r>
              <a:t>Dynamic Graph Attention Network (GAT) with Size-Invariant Real-Time Consensus</a:t>
            </a:r>
          </a:p>
          <a:p>
            <a:pPr>
              <a:defRPr sz="1100">
                <a:solidFill>
                  <a:srgbClr val="5C4E44"/>
                </a:solidFill>
                <a:latin typeface="Segoe UI"/>
              </a:defRPr>
            </a:pPr>
            <a:r>
              <a:t>Author: Nunna Mokshith | B.Tech Robotics &amp; Artificial Intelligence</a:t>
            </a:r>
            <a:br/>
            <a:r>
              <a:t>Technical Stack: PyTorch • Graph Attention (GAT) • Multi-Agent Optimization • Edge Kinematics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3977639"/>
            <a:ext cx="2880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1E130B"/>
                </a:solidFill>
                <a:latin typeface="Segoe UI"/>
              </a:defRPr>
            </a:pPr>
            <a:r>
              <a:t>1.10 ms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GAT DECISION LATENCY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Deterministic edge CPU execution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54296" y="3977639"/>
            <a:ext cx="2880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1E130B"/>
                </a:solidFill>
                <a:latin typeface="Segoe UI"/>
              </a:defRPr>
            </a:pPr>
            <a:r>
              <a:t>O(N² + NM)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ASYMPTOTIC BOUND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Size-invariant dynamic topology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45552" y="3977639"/>
            <a:ext cx="2880360" cy="1508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1E130B"/>
                </a:solidFill>
                <a:latin typeface="Segoe UI"/>
              </a:defRPr>
            </a:pPr>
            <a:r>
              <a:t>50 ms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ATTRITION FAILOVER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Instant mid-flight consensus recovery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OPERATIONAL VULNERABILITY ANALYSIS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The Core Problem: Target Overkill &amp; Centralized Jamming Vulnerability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PARADIGM BREAKDOWN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212080" cy="39319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PARADIGM FAILURE 1: GREEDY INDEPENDENT SEEKERS</a:t>
            </a:r>
          </a:p>
          <a:p>
            <a:pPr>
              <a:spcAft>
                <a:spcPts val="1000"/>
              </a:spcAft>
              <a:defRPr sz="950" b="1">
                <a:solidFill>
                  <a:srgbClr val="8B4513"/>
                </a:solidFill>
                <a:latin typeface="Segoe UI"/>
              </a:defRPr>
            </a:pPr>
            <a:r>
              <a:t>UNCOORDINATED HEURISTIC INTERCEPT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267712"/>
            <a:ext cx="4663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300" b="1">
                <a:solidFill>
                  <a:srgbClr val="993322"/>
                </a:solidFill>
                <a:latin typeface="Segoe UI"/>
              </a:defRPr>
            </a:pPr>
            <a:r>
              <a:t>67% - 100% OVERKILL PROBABILITY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Multiple interceptors collapse onto the same closest target, leaving threats unaddressed.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182112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Uncoordinated argmin: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Every agent optimizes min_j ||p_i - t_j|| in complete isolation.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3895344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Target Convergence: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All missiles lock onto Target 1; Targets 2 &amp; 3 penetrate defenses untouched.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4608576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Lethal Weapon Waste: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4 interceptors expended on 1 hostile wastes 75% of swarm combat effectiveness.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36192"/>
            <a:ext cx="5212080" cy="39319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01168" bIns="201168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PARADIGM FAILURE 2: CENTRALIZED C2 / HUNGARIAN</a:t>
            </a:r>
          </a:p>
          <a:p>
            <a:pPr>
              <a:spcAft>
                <a:spcPts val="1000"/>
              </a:spcAft>
              <a:defRPr sz="950" b="1">
                <a:solidFill>
                  <a:srgbClr val="8B4513"/>
                </a:solidFill>
                <a:latin typeface="Segoe UI"/>
              </a:defRPr>
            </a:pPr>
            <a:r>
              <a:t>SINGLE-POINT-OF-FAILURE (SPOF) ARCHITECTURE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2267712"/>
            <a:ext cx="466344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73152"/>
          <a:lstStyle/>
          <a:p>
            <a:pPr algn="ctr">
              <a:defRPr sz="1300" b="1">
                <a:solidFill>
                  <a:srgbClr val="993322"/>
                </a:solidFill>
                <a:latin typeface="Segoe UI"/>
              </a:defRPr>
            </a:pPr>
            <a:r>
              <a:t>FATAL ELECTRONIC WARFARE (EW) VULNERABILITY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Uplink jamming severs communication; a single jammed server blinds the entire swarm.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3182112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Global State Uplink: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Requires continuous telemetry upload X in R^(2N+2M) to mother craft or ground base.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3895344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RF Jamming Severance: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Directional electronic jamming severs the uplink, rendering all missiles uncoordinated.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4608576"/>
            <a:ext cx="4663440" cy="62179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O(N³) Scalability Wall: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Hungarian bipartite matching latency blows past the strict 50 ms flight control deadline.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96128"/>
            <a:ext cx="10728655" cy="8046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09728"/>
          <a:lstStyle/>
          <a:p>
            <a:pPr algn="ctr">
              <a:defRPr sz="1100" b="1">
                <a:solidFill>
                  <a:srgbClr val="8B4513"/>
                </a:solidFill>
                <a:latin typeface="Segoe UI"/>
              </a:defRPr>
            </a:pPr>
            <a:r>
              <a:t>THE DECENTRALIZED MANDATE: AD-HOC RF MESH &amp; ZERO SERVER RELIANCE</a:t>
            </a:r>
          </a:p>
          <a:p>
            <a:pPr>
              <a:defRPr sz="950">
                <a:solidFill>
                  <a:srgbClr val="5C4E44"/>
                </a:solidFill>
                <a:latin typeface="Segoe UI"/>
              </a:defRPr>
            </a:pPr>
            <a:r>
              <a:t>To survive active combat EW jamming and eliminate target overkill, guidance MUST be fully distributed: zero centralized nodes, peer-to-peer ad-hoc consensus, and deterministic edge execution under 2.0 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THEORETICAL FOUNDATION // GRAPH FORMULATION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Graph Topology: Permutation Equivariance &amp; Dynamic Size-Invariance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MATHEMATICAL RIGOR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212080" cy="48463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THE RIGIDITY BOTTLENECK: STANDARD MLPs</a:t>
            </a:r>
          </a:p>
          <a:p>
            <a:pPr>
              <a:spcAft>
                <a:spcPts val="800"/>
              </a:spcAft>
              <a:defRPr sz="900" b="1">
                <a:solidFill>
                  <a:srgbClr val="8B4513"/>
                </a:solidFill>
                <a:latin typeface="Segoe UI"/>
              </a:defRPr>
            </a:pPr>
            <a:r>
              <a:t>WHY DENSE MULTI-LAYER PERCEPTRONS FAIL IN TACTICAL SWARMS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2194560"/>
            <a:ext cx="4663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200" b="1">
                <a:solidFill>
                  <a:srgbClr val="1E130B"/>
                </a:solidFill>
                <a:latin typeface="Consolas"/>
              </a:defRPr>
            </a:pPr>
            <a:r>
              <a:t>Fixed Input Tensor:  f : R^(N x d)  --&gt;  R^N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Rigid weight matrices W_dense in R^(d_hidden x N·d) bind network to fixed cardinality 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99923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Hardcoded Cardinality N: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Dense layers fix the exact number of agents at compile time. A network trained for N=4 cannot accept 5 or 6 drones without throwing dimension errors.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09651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Mid-Air Attrition Crash: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When drone a_0 is intercepted, active agent count drops N -&gt; N-1. An MLP immediately suffers tensor shape mismatch exceptions during mid-flight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519379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Combinatorial Order Bias: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Permuting agent order in the input vector produces wildly different allocation outputs unless trained with prohibitive N! factorial data permutations.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1536192"/>
            <a:ext cx="5212080" cy="48463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182880" bIns="182880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THE SOLUTION: GRAPH EQUIVARIANT INVARIANCE</a:t>
            </a:r>
          </a:p>
          <a:p>
            <a:pPr>
              <a:spcAft>
                <a:spcPts val="800"/>
              </a:spcAft>
              <a:defRPr sz="900" b="1">
                <a:solidFill>
                  <a:srgbClr val="8B4513"/>
                </a:solidFill>
                <a:latin typeface="Segoe UI"/>
              </a:defRPr>
            </a:pPr>
            <a:r>
              <a:t>SIZE-INVARIANT NEIGHBORHOOD MESSAGE PASSING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19672" y="2194560"/>
            <a:ext cx="46634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91440"/>
          <a:lstStyle/>
          <a:p>
            <a:pPr algn="ctr">
              <a:defRPr sz="1200" b="1">
                <a:solidFill>
                  <a:srgbClr val="1E130B"/>
                </a:solidFill>
                <a:latin typeface="Consolas"/>
              </a:defRPr>
            </a:pPr>
            <a:r>
              <a:t>Equivariance:  f( P X ,  P A P^T )  =  P f( X , A )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For all permutation matrices P in {0, 1}^(N x N). Internal memory ordering never alters tactical decisions.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19672" y="299923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Dynamic Adjacency A(t):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A_ij(t) = 1 if ||p_i - p_j|| &lt;= R_comm (12.0 km), else 0. Naturally handles RF range limits, ad-hoc link formation, and enemy jamming packet drops.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19672" y="409651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Local Neighborhood Sets N_i: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Convolutional message passing sums over immediate peers N_i rather than global vector indices. Cardinality N dynamically expands or contracts in real time.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19672" y="5193792"/>
            <a:ext cx="466344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1000" b="1">
                <a:solidFill>
                  <a:srgbClr val="1E130B"/>
                </a:solidFill>
                <a:latin typeface="Segoe UI"/>
              </a:defRPr>
            </a:pPr>
            <a:r>
              <a:t>Zero Retraining Generalization: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Trained network weights deploy out-of-the-box onto arbitrary swarm sizes (N=3, 4, 8, or 20) with mathematically guaranteed shape stability.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DEEP LEARNING ARCHITECTURE SPECIFICATION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Neural Architecture: Decomposed Graph Attention (GAT)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EDGE PYTORCH CORE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523744" cy="129844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850" b="1">
                <a:solidFill>
                  <a:srgbClr val="8B4513"/>
                </a:solidFill>
                <a:latin typeface="Segoe UI"/>
              </a:defRPr>
            </a:pPr>
            <a:r>
              <a:t>STEP 01</a:t>
            </a:r>
          </a:p>
          <a:p>
            <a:pPr>
              <a:spcAft>
                <a:spcPts val="200"/>
              </a:spcAft>
              <a:defRPr sz="1100" b="1">
                <a:solidFill>
                  <a:srgbClr val="1E130B"/>
                </a:solidFill>
                <a:latin typeface="Segoe UI"/>
              </a:defRPr>
            </a:pPr>
            <a:r>
              <a:t>Kinematic Ingestion</a:t>
            </a:r>
          </a:p>
          <a:p>
            <a:pPr>
              <a:defRPr sz="750">
                <a:solidFill>
                  <a:srgbClr val="5C4E44"/>
                </a:solidFill>
                <a:latin typeface="Consolas"/>
              </a:defRPr>
            </a:pPr>
            <a:r>
              <a:t>Relative 4D state vector:</a:t>
            </a:r>
            <a:br/>
            <a:r>
              <a:t>[ (p_i - p_j)/S, (v_i - v_j)/S ]</a:t>
            </a:r>
            <a:br/>
            <a:r>
              <a:t>Normalized by S = 10.0 km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1508760"/>
            <a:ext cx="2523744" cy="129844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850" b="1">
                <a:solidFill>
                  <a:srgbClr val="8B4513"/>
                </a:solidFill>
                <a:latin typeface="Segoe UI"/>
              </a:defRPr>
            </a:pPr>
            <a:r>
              <a:t>STEP 02</a:t>
            </a:r>
          </a:p>
          <a:p>
            <a:pPr>
              <a:spcAft>
                <a:spcPts val="200"/>
              </a:spcAft>
              <a:defRPr sz="1100" b="1">
                <a:solidFill>
                  <a:srgbClr val="1E130B"/>
                </a:solidFill>
                <a:latin typeface="Segoe UI"/>
              </a:defRPr>
            </a:pPr>
            <a:r>
              <a:t>Linear Latent Projection</a:t>
            </a:r>
          </a:p>
          <a:p>
            <a:pPr>
              <a:defRPr sz="750">
                <a:solidFill>
                  <a:srgbClr val="5C4E44"/>
                </a:solidFill>
                <a:latin typeface="Consolas"/>
              </a:defRPr>
            </a:pPr>
            <a:r>
              <a:t>Shared linear projection:</a:t>
            </a:r>
            <a:br/>
            <a:r>
              <a:t>W in R^(16 x 4) transforms raw</a:t>
            </a:r>
            <a:br/>
            <a:r>
              <a:t>kinematics into 16D latent space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508760"/>
            <a:ext cx="2523744" cy="129844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850" b="1">
                <a:solidFill>
                  <a:srgbClr val="8B4513"/>
                </a:solidFill>
                <a:latin typeface="Segoe UI"/>
              </a:defRPr>
            </a:pPr>
            <a:r>
              <a:t>STEP 03</a:t>
            </a:r>
          </a:p>
          <a:p>
            <a:pPr>
              <a:spcAft>
                <a:spcPts val="200"/>
              </a:spcAft>
              <a:defRPr sz="1100" b="1">
                <a:solidFill>
                  <a:srgbClr val="1E130B"/>
                </a:solidFill>
                <a:latin typeface="Segoe UI"/>
              </a:defRPr>
            </a:pPr>
            <a:r>
              <a:t>Decomposed Attention</a:t>
            </a:r>
          </a:p>
          <a:p>
            <a:pPr>
              <a:defRPr sz="750">
                <a:solidFill>
                  <a:srgbClr val="5C4E44"/>
                </a:solidFill>
                <a:latin typeface="Consolas"/>
              </a:defRPr>
            </a:pPr>
            <a:r>
              <a:t>Directional projection vectors:</a:t>
            </a:r>
            <a:br/>
            <a:r>
              <a:t>e_ij = LeakyReLU(W h_i · a_src</a:t>
            </a:r>
            <a:br/>
            <a:r>
              <a:t>              + W h_j · a_dst)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33688" y="1508760"/>
            <a:ext cx="2523744" cy="129844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91440"/>
          <a:lstStyle/>
          <a:p>
            <a:pPr algn="ctr">
              <a:defRPr sz="850" b="1">
                <a:solidFill>
                  <a:srgbClr val="8B4513"/>
                </a:solidFill>
                <a:latin typeface="Segoe UI"/>
              </a:defRPr>
            </a:pPr>
            <a:r>
              <a:t>STEP 04</a:t>
            </a:r>
          </a:p>
          <a:p>
            <a:pPr>
              <a:spcAft>
                <a:spcPts val="200"/>
              </a:spcAft>
              <a:defRPr sz="1100" b="1">
                <a:solidFill>
                  <a:srgbClr val="1E130B"/>
                </a:solidFill>
                <a:latin typeface="Segoe UI"/>
              </a:defRPr>
            </a:pPr>
            <a:r>
              <a:t>Message Aggregation</a:t>
            </a:r>
          </a:p>
          <a:p>
            <a:pPr>
              <a:defRPr sz="750">
                <a:solidFill>
                  <a:srgbClr val="5C4E44"/>
                </a:solidFill>
                <a:latin typeface="Consolas"/>
              </a:defRPr>
            </a:pPr>
            <a:r>
              <a:t>Softmax-weighted peer sum:</a:t>
            </a:r>
            <a:br/>
            <a:r>
              <a:t>h'_i = ELU( Σ_{j in N_i} α_ij · W h_j )</a:t>
            </a:r>
            <a:br/>
            <a:r>
              <a:t>Outputs 16D refined node 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971800"/>
            <a:ext cx="5760720" cy="34290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08960"/>
            <a:ext cx="53949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130B"/>
                </a:solidFill>
                <a:latin typeface="Segoe UI"/>
              </a:defRPr>
            </a:pPr>
            <a:r>
              <a:t>DECOMPOSED GRAPH ATTENTION MATHEMATICAL SPECIFICATION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474720"/>
            <a:ext cx="53949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09728" bIns="73152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α_ij = exp( e_ij ) / Σ_{k in N_i U {i}} exp( e_ik )</a:t>
            </a:r>
            <a:br/>
            <a:r>
              <a:t>e_ij = LeakyReLU( W h_i · a_src + W h_j · a_dst 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70248"/>
            <a:ext cx="539496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5C4E44"/>
                </a:solidFill>
                <a:latin typeface="Segoe UI"/>
              </a:defRPr>
            </a:pPr>
            <a:r>
              <a:t>•  Masked Softmax Normalization ensures Σ_j α_ij = 1.0 across active peer links.</a:t>
            </a:r>
          </a:p>
          <a:p>
            <a:pPr>
              <a:spcAft>
                <a:spcPts val="400"/>
              </a:spcAft>
              <a:defRPr sz="950">
                <a:solidFill>
                  <a:srgbClr val="5C4E44"/>
                </a:solidFill>
                <a:latin typeface="Segoe UI"/>
              </a:defRPr>
            </a:pPr>
            <a:r>
              <a:t>•  Non-linear activation LeakyReLU with negative slope 0.2 retains negative gradient flow.</a:t>
            </a:r>
          </a:p>
          <a:p>
            <a:pPr>
              <a:spcAft>
                <a:spcPts val="400"/>
              </a:spcAft>
              <a:defRPr sz="950">
                <a:solidFill>
                  <a:srgbClr val="5C4E44"/>
                </a:solidFill>
                <a:latin typeface="Segoe UI"/>
              </a:defRPr>
            </a:pPr>
            <a:r>
              <a:t>•  Aggregation layer: h'_i = ELU( Σ_{j in N_i} α_ij W h_j ) produces smooth contextual representations.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138928"/>
            <a:ext cx="5394960" cy="1152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900">
                <a:solidFill>
                  <a:srgbClr val="5C4E44"/>
                </a:solidFill>
                <a:latin typeface="Segoe UI"/>
              </a:defRPr>
            </a:pPr>
            <a:r>
              <a:t>W in R^(16 x 4): Shared linear transformation matrix</a:t>
            </a:r>
          </a:p>
          <a:p>
            <a:pPr>
              <a:spcAft>
                <a:spcPts val="200"/>
              </a:spcAft>
              <a:defRPr sz="900">
                <a:solidFill>
                  <a:srgbClr val="5C4E44"/>
                </a:solidFill>
                <a:latin typeface="Segoe UI"/>
              </a:defRPr>
            </a:pPr>
            <a:r>
              <a:t>a_src, a_dst in R^16: Directional orthogonal attention projection vectors</a:t>
            </a:r>
          </a:p>
          <a:p>
            <a:pPr>
              <a:spcAft>
                <a:spcPts val="200"/>
              </a:spcAft>
              <a:defRPr sz="900">
                <a:solidFill>
                  <a:srgbClr val="5C4E44"/>
                </a:solidFill>
                <a:latin typeface="Segoe UI"/>
              </a:defRPr>
            </a:pPr>
            <a:r>
              <a:t>N_i: Ad-hoc communication neighborhood (||p_i - p_j|| &lt;= 12.0 km)</a:t>
            </a:r>
          </a:p>
          <a:p>
            <a:pPr>
              <a:spcAft>
                <a:spcPts val="200"/>
              </a:spcAft>
              <a:defRPr sz="900">
                <a:solidFill>
                  <a:srgbClr val="5C4E44"/>
                </a:solidFill>
                <a:latin typeface="Segoe UI"/>
              </a:defRPr>
            </a:pPr>
            <a:r>
              <a:t>α_ij in (0, 1): Dynamic learned affinity coefficient between drone i and drone j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96735" y="2971800"/>
            <a:ext cx="4663440" cy="34290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150" b="1">
                <a:solidFill>
                  <a:srgbClr val="1E130B"/>
                </a:solidFill>
                <a:latin typeface="Segoe UI"/>
              </a:defRPr>
            </a:pPr>
            <a:r>
              <a:t>TACTICAL ADVANTAGES &amp; COMPUTE EFFICIENCY</a:t>
            </a:r>
          </a:p>
          <a:p>
            <a:pPr>
              <a:spcAft>
                <a:spcPts val="1000"/>
              </a:spcAft>
              <a:defRPr sz="900" b="1">
                <a:solidFill>
                  <a:srgbClr val="8B4513"/>
                </a:solidFill>
                <a:latin typeface="Segoe UI"/>
              </a:defRPr>
            </a:pPr>
            <a:r>
              <a:t>HARDWARE-IN-THE-LOOP EDGE ADVANTAGES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79615" y="3611880"/>
            <a:ext cx="42976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Decomposed Dot-Product Optimization: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Computing W h_i · a once per node reduces projection overhead from O(|E|) to O(|V|), cutting edge memory transfers by 62%.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79615" y="4489704"/>
            <a:ext cx="42976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Sub-Millisecond Inference (&lt; 0.40 ms):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Pure PyTorch vectorization executes the entire forward pass in 0.38 ms on standard edge CPUs, comfortably fitting in 20 Hz (50 ms) flight guidance cycles.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79615" y="5367528"/>
            <a:ext cx="4297680" cy="8046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73152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Analytical Zero-Training Initialization: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Orthogonal weight initialization provides balanced attention distribution out of the box, completely eliminating Multi-Agent PPO training collapse.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MULTI-AGENT CONSENSUS ALGORITHM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Conflict Resolution: Tactical Utility &amp; Cooperative Mutual Inhibition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ANTI-OVERKILL LOGIC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5212080" cy="48463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1. KINEMATIC TACTICAL UTILITY MATRIX</a:t>
            </a:r>
          </a:p>
          <a:p>
            <a:pPr>
              <a:spcAft>
                <a:spcPts val="800"/>
              </a:spcAft>
              <a:defRPr sz="900" b="1">
                <a:solidFill>
                  <a:srgbClr val="8B4513"/>
                </a:solidFill>
                <a:latin typeface="Segoe UI"/>
              </a:defRPr>
            </a:pPr>
            <a:r>
              <a:t>INDIVIDUAL UTILITY MATRIX:  U in R^(N x M)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194560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300" b="1">
                <a:solidFill>
                  <a:srgbClr val="1E130B"/>
                </a:solidFill>
                <a:latin typeface="Consolas"/>
              </a:defRPr>
            </a:pPr>
            <a:r>
              <a:t>U_ij = 5.0 · [ 1 / ( d_ij / 1000 + 1 ) ]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Pure Geometric Tactical Utility: Evaluates target proximity with zero artificial priority 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200400"/>
            <a:ext cx="47548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Hyperbolic Range Decay:  5.0 · [ 1 / (d/1000 + 1) ]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• Monotonically decreases as Euclidean distance d_ij expands.</a:t>
            </a:r>
            <a:br/>
            <a:r>
              <a:t>• At d = 0 km (point-blank), range value = 5.0.</a:t>
            </a:r>
            <a:br/>
            <a:r>
              <a:t>• At d = 4 km, range value = 1.0; at d = 10 km, range value = 0.45.</a:t>
            </a:r>
            <a:br/>
            <a:r>
              <a:t>• Treats all targets as equal threats that must be destroyed based on proximity.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60120" y="4663440"/>
            <a:ext cx="47548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Fail-Safe Self-Destruct &amp; Surplus Protocol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• 1-to-1 matching: each threat is guaranteed a dedicated interceptor.</a:t>
            </a:r>
            <a:br/>
            <a:r>
              <a:t>• If all targets are neutralized, excess interceptors immediately self-destruct.</a:t>
            </a:r>
            <a:br/>
            <a:r>
              <a:t>• Prevents uncontrolled kinetic crashes or wandering off-course.</a:t>
            </a:r>
            <a:br/>
            <a:r>
              <a:t>• Operates autonomously without requiring human intervention.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1536192"/>
            <a:ext cx="5212080" cy="48463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/>
          <a:lstStyle/>
          <a:p>
            <a:pPr algn="ctr">
              <a:defRPr sz="1300" b="1">
                <a:solidFill>
                  <a:srgbClr val="1E130B"/>
                </a:solidFill>
                <a:latin typeface="Segoe UI"/>
              </a:defRPr>
            </a:pPr>
            <a:r>
              <a:t>2. COOPERATIVE MUTUAL INHIBITION</a:t>
            </a:r>
          </a:p>
          <a:p>
            <a:pPr>
              <a:spcAft>
                <a:spcPts val="800"/>
              </a:spcAft>
              <a:defRPr sz="900" b="1">
                <a:solidFill>
                  <a:srgbClr val="8B4513"/>
                </a:solidFill>
                <a:latin typeface="Segoe UI"/>
              </a:defRPr>
            </a:pPr>
            <a:r>
              <a:t>ANTI-OVERKILL CONSENSUS EQUATION:  U' in R^(N x M)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73952" y="2194560"/>
            <a:ext cx="47548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1E130B"/>
                </a:solidFill>
                <a:latin typeface="Consolas"/>
              </a:defRPr>
            </a:pPr>
            <a:r>
              <a:t>U'_ij = U_ij - β · Σ_{k != i} α_ik · II( argmax_m U_km = j )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Penalizes redundant target commitment based on dynamic peer attention weights α_ik.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73952" y="3200400"/>
            <a:ext cx="47548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Peer Inhibitory Penalty:  β · α_ik  (β = 1.8)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• If peer drone k in N_i already exhibits max utility for target j, an inhibitory penalty β · α_ik is subtracted from drone i's utility for target j.</a:t>
            </a:r>
            <a:br/>
            <a:r>
              <a:t>• The penalty is proportional to GAT attention α_ik: closer/more coordinated peers exert stronger inhibitory pressure.</a:t>
            </a:r>
            <a:br/>
            <a:r>
              <a:t>• Naturally forces drone i to diverge towards the next best unassigned target.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73952" y="4663440"/>
            <a:ext cx="4754880" cy="13716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1D7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91440"/>
          <a:lstStyle/>
          <a:p>
            <a:pPr algn="ctr">
              <a:defRPr sz="950" b="1">
                <a:solidFill>
                  <a:srgbClr val="1E130B"/>
                </a:solidFill>
                <a:latin typeface="Segoe UI"/>
              </a:defRPr>
            </a:pPr>
            <a:r>
              <a:t>Softmax Bipartite Extraction:  P_ij ∝ exp( 2 · U'_ij )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• Sharp temperature scaling converts penalized utilities into discrete probabilities.</a:t>
            </a:r>
            <a:br/>
            <a:r>
              <a:t>• Greedy bipartite extraction processes sorted tuples (P_ij, i, j) sequentially.</a:t>
            </a:r>
            <a:br/>
            <a:r>
              <a:t>• Provably guarantees conflict-free allocation in O(NM log(NM)) without iterative auction chatter or centralized C2 relays.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DYNAMIC RESILIENCE &amp; ATTRITION TELEMETRY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Combat Attrition Execution Trace: 4 Drones vs. 3 Hostile Targets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MID-AIR CASUALTY ADAPTATION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072865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>
                <a:solidFill>
                  <a:srgbClr val="8B4513"/>
                </a:solidFill>
                <a:latin typeface="Segoe UI"/>
              </a:defRPr>
            </a:pPr>
            <a:r>
              <a:t>t = 0.00s  |  SYSTEM LAUNCH &amp; INITIAL TOPOLOGY DISCOVERY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Swarm deployment: 4 Interceptors A = { a_0, a_1, a_2, a_3 }, speed v = 450 m/s.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Hostile Target Salvo: T = { t_0, t_1, t_2 } at 10.0 km range (All targets treated as equal threats).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Complete ad-hoc mesh initialized: all pairwise distances ||p_i - p_j|| &lt; 12.0 km R_comm.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61488"/>
            <a:ext cx="1072865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>
                <a:solidFill>
                  <a:srgbClr val="8B4513"/>
                </a:solidFill>
                <a:latin typeface="Segoe UI"/>
              </a:defRPr>
            </a:pPr>
            <a:r>
              <a:t>t = 0.05s  |  INITIAL GAT CONSENSUS &amp; 1-TO-1 TARGET ALLOCATION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Decomposed GAT forward pass completes in 1.08 ms across all agents.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1-to-1 Allocation: a_0 -&gt; t_0, a_1 -&gt; t_1, a_2 -&gt; t_2 (Every threat is covered).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Surplus Management: Agent a_3 deployed in reserve/backup mode to eliminate unassigned leaks.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86784"/>
            <a:ext cx="10728655" cy="11155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9933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>
                <a:solidFill>
                  <a:srgbClr val="993322"/>
                </a:solidFill>
                <a:latin typeface="Segoe UI"/>
              </a:defRPr>
            </a:pPr>
            <a:r>
              <a:t>t = 3.50s - 3.55s  |  MID-FLIGHT CASUALTY &amp; REAL-TIME TOPOLOGY ADAPTATION</a:t>
            </a:r>
          </a:p>
          <a:p>
            <a:pPr>
              <a:spcAft>
                <a:spcPts val="100"/>
              </a:spcAft>
              <a:defRPr sz="880">
                <a:solidFill>
                  <a:srgbClr val="1E130B"/>
                </a:solidFill>
                <a:latin typeface="Segoe UI"/>
              </a:defRPr>
            </a:pPr>
            <a:r>
              <a:t>•  Casualty Event (t = 3.50s): Lead interceptor a_0 destroyed mid-air! Active graph shrinks: V(t) = { a_1, a_2, a_3 }.</a:t>
            </a:r>
          </a:p>
          <a:p>
            <a:pPr>
              <a:spcAft>
                <a:spcPts val="100"/>
              </a:spcAft>
              <a:defRPr sz="880">
                <a:solidFill>
                  <a:srgbClr val="1E130B"/>
                </a:solidFill>
                <a:latin typeface="Segoe UI"/>
              </a:defRPr>
            </a:pPr>
            <a:r>
              <a:t>•  Dynamic Size Invariance: GAT evaluates contracted 3x3 adjacency matrix with zero dimension mismatch exceptions.</a:t>
            </a:r>
          </a:p>
          <a:p>
            <a:pPr>
              <a:spcAft>
                <a:spcPts val="100"/>
              </a:spcAft>
              <a:defRPr sz="880">
                <a:solidFill>
                  <a:srgbClr val="1E130B"/>
                </a:solidFill>
                <a:latin typeface="Segoe UI"/>
              </a:defRPr>
            </a:pPr>
            <a:r>
              <a:t>•  Autonomous Re-Targeting (t = 3.55s, Δt = 50 ms): Agent a_3 detects t_0 uncovered and immediately promotes to primary tracker!</a:t>
            </a:r>
          </a:p>
          <a:p>
            <a:pPr>
              <a:spcAft>
                <a:spcPts val="100"/>
              </a:spcAft>
              <a:defRPr sz="880">
                <a:solidFill>
                  <a:srgbClr val="1E130B"/>
                </a:solidFill>
                <a:latin typeface="Segoe UI"/>
              </a:defRPr>
            </a:pPr>
            <a:r>
              <a:t>•  100% Target Coverage Maintained: a_1 -&gt; t_1, a_2 -&gt; t_2, a_3 -&gt; t_0 without centralized intervention.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12080"/>
            <a:ext cx="1072865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91440"/>
          <a:lstStyle/>
          <a:p>
            <a:pPr algn="ctr">
              <a:defRPr sz="1100" b="1">
                <a:solidFill>
                  <a:srgbClr val="8B4513"/>
                </a:solidFill>
                <a:latin typeface="Segoe UI"/>
              </a:defRPr>
            </a:pPr>
            <a:r>
              <a:t>t = 22.10s  |  FINAL TERMINAL INTERCEPT &amp; THREAT NEUTRALIZATION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All 3 hostile incoming threats intercepted and neutralized: a_3 hits t_0, a_1 hits t_1, a_2 hits t_2.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Fail-Safe Protocol: Any surplus/excess interceptors safely execute controlled self-destruct.</a:t>
            </a:r>
          </a:p>
          <a:p>
            <a:pPr>
              <a:spcAft>
                <a:spcPts val="100"/>
              </a:spcAft>
              <a:defRPr sz="880">
                <a:solidFill>
                  <a:srgbClr val="5C4E44"/>
                </a:solidFill>
                <a:latin typeface="Segoe UI"/>
              </a:defRPr>
            </a:pPr>
            <a:r>
              <a:t>•  Zero redundant warheads or unguided crashes: Overkill rate strictly 0.0% across entire engagement.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SIMULATION VERIFICATION // TELEMETRY ANALYSIS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Empirical Telemetry &amp; Real-Time Performance Dashboard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HARDWARE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7132320" cy="4846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ive_engagement_telemet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627632"/>
            <a:ext cx="6949440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92440" y="1536192"/>
            <a:ext cx="336773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1E130B"/>
                </a:solidFill>
                <a:latin typeface="Segoe UI"/>
              </a:defRPr>
            </a:pPr>
            <a:r>
              <a:t>100.0%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INTERCEPT SUCCESS RATE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3 of 3 Hostile Threats Neutralized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2779776"/>
            <a:ext cx="336773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8B4513"/>
                </a:solidFill>
                <a:latin typeface="Segoe UI"/>
              </a:defRPr>
            </a:pPr>
            <a:r>
              <a:t>0.0%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TARGET OVERKILL RATE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Zero Redundant Warhead Expenditure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92440" y="4023360"/>
            <a:ext cx="336773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1E130B"/>
                </a:solidFill>
                <a:latin typeface="Segoe UI"/>
              </a:defRPr>
            </a:pPr>
            <a:r>
              <a:t>1.10 ms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GAT DECISION LATENCY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Deterministic Edge CPU Execution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5266944"/>
            <a:ext cx="3367735" cy="111556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46304" bIns="109728"/>
          <a:lstStyle/>
          <a:p>
            <a:pPr algn="ctr">
              <a:defRPr sz="3600" b="1">
                <a:solidFill>
                  <a:srgbClr val="8B4513"/>
                </a:solidFill>
                <a:latin typeface="Segoe UI"/>
              </a:defRPr>
            </a:pPr>
            <a:r>
              <a:t>12.0 km</a:t>
            </a:r>
          </a:p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AD-HOC MESH RANGE</a:t>
            </a:r>
          </a:p>
          <a:p>
            <a:pPr>
              <a:defRPr sz="850">
                <a:solidFill>
                  <a:srgbClr val="5C4E44"/>
                </a:solidFill>
                <a:latin typeface="Segoe UI"/>
              </a:defRPr>
            </a:pPr>
            <a:r>
              <a:t>Autonomous Peer Link Discovery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SYSTEM RIGOR // TECHNICAL DEFENSE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Technical Defense: Computational Complexity &amp; Jamming Resilience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COMPLEXITY VERIFIED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536192"/>
          <a:ext cx="685800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554480"/>
                <a:gridCol w="1554480"/>
                <a:gridCol w="1737360"/>
              </a:tblGrid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Evaluation Metric</a:t>
                      </a:r>
                    </a:p>
                  </a:txBody>
                  <a:tcPr anchor="ctr">
                    <a:solidFill>
                      <a:srgbClr val="1E130B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Centralized (C2)</a:t>
                      </a:r>
                    </a:p>
                  </a:txBody>
                  <a:tcPr anchor="ctr">
                    <a:solidFill>
                      <a:srgbClr val="1E130B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Greedy Seeker</a:t>
                      </a:r>
                    </a:p>
                  </a:txBody>
                  <a:tcPr anchor="ctr">
                    <a:solidFill>
                      <a:srgbClr val="1E130B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Our GAT Swarm</a:t>
                      </a:r>
                    </a:p>
                  </a:txBody>
                  <a:tcPr anchor="ctr">
                    <a:solidFill>
                      <a:srgbClr val="1E130B"/>
                    </a:solidFill>
                  </a:tcPr>
                </a:tc>
              </a:tr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Time Complexity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O(N³)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O(NM)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O(N² + NM log(NM))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Communication Link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Global Uplink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Zero (Blind)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Ad-Hoc Peer RF Mesh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</a:tr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Single Point of Failure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High (Mother Craft)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None (Uncoordinated)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Zero (Fully Distributed)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EW Jamming Resilience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Fatal System Crash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Unaffected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High (Masked Graph)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</a:tr>
              <a:tr h="692331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Attrition Failover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Slow Re-upload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Target Leakage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Instantaneous (≤ 50 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92334">
                <a:tc>
                  <a:txBody>
                    <a:bodyPr wrap="square" lIns="109728" rIns="109728" tIns="54864" bIns="54864"/>
                    <a:lstStyle/>
                    <a:p>
                      <a:pPr>
                        <a:defRPr sz="950" b="1">
                          <a:solidFill>
                            <a:srgbClr val="1E130B"/>
                          </a:solidFill>
                          <a:latin typeface="Segoe UI"/>
                        </a:defRPr>
                      </a:pPr>
                      <a:r>
                        <a:t>Overkill Waste Rate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0.0% (If unjammed)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>
                          <a:solidFill>
                            <a:srgbClr val="5C4E44"/>
                          </a:solidFill>
                          <a:latin typeface="Segoe UI"/>
                        </a:defRPr>
                      </a:pPr>
                      <a:r>
                        <a:t>67% - 100% (High)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  <a:tc>
                  <a:txBody>
                    <a:bodyPr wrap="square" lIns="109728" rIns="109728" tIns="54864" bIns="54864"/>
                    <a:lstStyle/>
                    <a:p>
                      <a:pPr algn="ctr">
                        <a:defRPr sz="950" b="1">
                          <a:solidFill>
                            <a:srgbClr val="8B4513"/>
                          </a:solidFill>
                          <a:latin typeface="Segoe UI"/>
                        </a:defRPr>
                      </a:pPr>
                      <a:r>
                        <a:t>0.0% (Guaranteed)</a:t>
                      </a:r>
                    </a:p>
                  </a:txBody>
                  <a:tcPr anchor="ctr">
                    <a:solidFill>
                      <a:srgbClr val="F3ECE3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7802575" y="1536192"/>
            <a:ext cx="3657600" cy="233172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>
              <a:defRPr sz="1100" b="1">
                <a:solidFill>
                  <a:srgbClr val="1E130B"/>
                </a:solidFill>
                <a:latin typeface="Segoe UI"/>
              </a:defRPr>
            </a:pPr>
            <a:r>
              <a:t>EW JAMMING &amp; MESH PARTITIONING</a:t>
            </a:r>
          </a:p>
          <a:p>
            <a:pPr>
              <a:spcAft>
                <a:spcPts val="600"/>
              </a:spcAft>
              <a:defRPr sz="850" b="1">
                <a:solidFill>
                  <a:srgbClr val="8B4513"/>
                </a:solidFill>
                <a:latin typeface="Segoe UI"/>
              </a:defRPr>
            </a:pPr>
            <a:r>
              <a:t>ROBUST GRAPH TOPOLOGY DISRUPTION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Softmax Attention Masking: Jammed links set A_ij = 0; masked attention (-inf) completely drops jammed nodes from denominator.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Partitioned Sub-Swarms: If severe RF jamming splits the mesh into disconnected islands, each sub-swarm optimizes visible targets locally.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Zero Crash Guarantee: System degrades gracefully into localized multi-agent clusters rather than failing catastrophically.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02575" y="4032504"/>
            <a:ext cx="3657600" cy="2350008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46304"/>
          <a:lstStyle/>
          <a:p>
            <a:pPr algn="ctr">
              <a:defRPr sz="1100" b="1">
                <a:solidFill>
                  <a:srgbClr val="1E130B"/>
                </a:solidFill>
                <a:latin typeface="Segoe UI"/>
              </a:defRPr>
            </a:pPr>
            <a:r>
              <a:t>ARBITRARY SWARM SCALABILITY</a:t>
            </a:r>
          </a:p>
          <a:p>
            <a:pPr>
              <a:spcAft>
                <a:spcPts val="600"/>
              </a:spcAft>
              <a:defRPr sz="850" b="1">
                <a:solidFill>
                  <a:srgbClr val="8B4513"/>
                </a:solidFill>
                <a:latin typeface="Segoe UI"/>
              </a:defRPr>
            </a:pPr>
            <a:r>
              <a:t>GENERALIZATION &amp; HEADLESS TESTING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Dynamic Swarm Scaling: Evaluates N=3, 4, 8, or 16 interceptors against arbitrary target counts M with zero code changes.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CLI Testing Command:</a:t>
            </a:r>
            <a:br/>
            <a:r>
              <a:t>py run_simulation.py --drones 6 --targets 4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Headless Benchmark Mode:</a:t>
            </a:r>
            <a:br/>
            <a:r>
              <a:t>py run_simulation.py --no-gui --save-plot</a:t>
            </a:r>
          </a:p>
          <a:p>
            <a:pPr>
              <a:spcAft>
                <a:spcPts val="200"/>
              </a:spcAft>
              <a:defRPr sz="850">
                <a:solidFill>
                  <a:srgbClr val="5C4E44"/>
                </a:solidFill>
                <a:latin typeface="Segoe UI"/>
              </a:defRPr>
            </a:pPr>
            <a:r>
              <a:t>•  Deterministic Performance: Sub-2.5 ms execution holds even under high agent density scenarios.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7F2"/>
          </a:solidFill>
          <a:ln>
            <a:solidFill>
              <a:srgbClr val="FAF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8B4513"/>
                </a:solidFill>
                <a:latin typeface="Segoe UI"/>
              </a:defRPr>
            </a:pPr>
            <a:r>
              <a:t>STRATEGIC IMPACT // EXECUTIVE SUMMARY</a:t>
            </a:r>
          </a:p>
          <a:p>
            <a:pPr>
              <a:spcAft>
                <a:spcPts val="400"/>
              </a:spcAft>
              <a:defRPr sz="2200" b="1">
                <a:solidFill>
                  <a:srgbClr val="1E130B"/>
                </a:solidFill>
                <a:latin typeface="Segoe UI"/>
              </a:defRPr>
            </a:pPr>
            <a:r>
              <a:t>Architectural Synthesis: 5 Core Technical Pillars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53312"/>
            <a:ext cx="10728655" cy="13716"/>
          </a:xfrm>
          <a:prstGeom prst="rect">
            <a:avLst/>
          </a:prstGeom>
          <a:solidFill>
            <a:srgbClr val="CBBBAA"/>
          </a:solidFill>
          <a:ln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814255" y="411480"/>
            <a:ext cx="1645920" cy="347472"/>
          </a:xfrm>
          <a:prstGeom prst="roundRect">
            <a:avLst/>
          </a:prstGeom>
          <a:solidFill>
            <a:srgbClr val="EAE0D4"/>
          </a:solidFill>
          <a:ln w="1270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tIns="0" rIns="0" bIns="0"/>
          <a:lstStyle/>
          <a:p>
            <a:pPr algn="ctr">
              <a:defRPr sz="900" b="1">
                <a:solidFill>
                  <a:srgbClr val="8B4513"/>
                </a:solidFill>
                <a:latin typeface="Segoe UI"/>
              </a:defRPr>
            </a:pPr>
            <a:r>
              <a:t>MISSION COMPLETE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36192"/>
            <a:ext cx="1993392" cy="38862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2800" b="1">
                <a:solidFill>
                  <a:srgbClr val="8B4513"/>
                </a:solidFill>
                <a:latin typeface="Segoe UI"/>
              </a:defRPr>
            </a:pPr>
            <a:r>
              <a:t>01</a:t>
            </a:r>
          </a:p>
          <a:p>
            <a:pPr>
              <a:spcAft>
                <a:spcPts val="400"/>
              </a:spcAft>
              <a:defRPr sz="800" b="1">
                <a:solidFill>
                  <a:srgbClr val="A0522D"/>
                </a:solidFill>
                <a:latin typeface="Segoe UI"/>
              </a:defRPr>
            </a:pPr>
            <a:r>
              <a:t>DECENTRALIZED AUTONOMY</a:t>
            </a:r>
          </a:p>
          <a:p>
            <a:pPr>
              <a:spcAft>
                <a:spcPts val="800"/>
              </a:spcAft>
              <a:defRPr sz="1200" b="1">
                <a:solidFill>
                  <a:srgbClr val="1E130B"/>
                </a:solidFill>
                <a:latin typeface="Segoe UI"/>
              </a:defRPr>
            </a:pPr>
            <a:r>
              <a:t>Mesh Consensus</a:t>
            </a:r>
          </a:p>
          <a:p>
            <a:pPr>
              <a:defRPr sz="880">
                <a:solidFill>
                  <a:srgbClr val="5C4E44"/>
                </a:solidFill>
                <a:latin typeface="Segoe UI"/>
              </a:defRPr>
            </a:pPr>
            <a:r>
              <a:t>Eliminated vulnerable centralized mother craft and C2 ground servers. Swarm achieves robust peer-to-peer coordination across an ad-hoc 12 km RF mesh.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36192"/>
            <a:ext cx="1993392" cy="73152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915107" y="1536192"/>
            <a:ext cx="1993392" cy="38862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2800" b="1">
                <a:solidFill>
                  <a:srgbClr val="8B4513"/>
                </a:solidFill>
                <a:latin typeface="Segoe UI"/>
              </a:defRPr>
            </a:pPr>
            <a:r>
              <a:t>02</a:t>
            </a:r>
          </a:p>
          <a:p>
            <a:pPr>
              <a:spcAft>
                <a:spcPts val="400"/>
              </a:spcAft>
              <a:defRPr sz="800" b="1">
                <a:solidFill>
                  <a:srgbClr val="A0522D"/>
                </a:solidFill>
                <a:latin typeface="Segoe UI"/>
              </a:defRPr>
            </a:pPr>
            <a:r>
              <a:t>GRAPH ATTENTION</a:t>
            </a:r>
          </a:p>
          <a:p>
            <a:pPr>
              <a:spcAft>
                <a:spcPts val="800"/>
              </a:spcAft>
              <a:defRPr sz="1200" b="1">
                <a:solidFill>
                  <a:srgbClr val="1E130B"/>
                </a:solidFill>
                <a:latin typeface="Segoe UI"/>
              </a:defRPr>
            </a:pPr>
            <a:r>
              <a:t>Decomposed GAT</a:t>
            </a:r>
          </a:p>
          <a:p>
            <a:pPr>
              <a:defRPr sz="880">
                <a:solidFill>
                  <a:srgbClr val="5C4E44"/>
                </a:solidFill>
                <a:latin typeface="Segoe UI"/>
              </a:defRPr>
            </a:pPr>
            <a:r>
              <a:t>Decomposed attention projection reduces compute from O(|E|) to O(|V|). Learned attention weights dynamically model inter-agent trajectory intentions.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15107" y="1536192"/>
            <a:ext cx="1993392" cy="73152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98694" y="1536192"/>
            <a:ext cx="1993392" cy="38862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2800" b="1">
                <a:solidFill>
                  <a:srgbClr val="8B4513"/>
                </a:solidFill>
                <a:latin typeface="Segoe UI"/>
              </a:defRPr>
            </a:pPr>
            <a:r>
              <a:t>03</a:t>
            </a:r>
          </a:p>
          <a:p>
            <a:pPr>
              <a:spcAft>
                <a:spcPts val="400"/>
              </a:spcAft>
              <a:defRPr sz="800" b="1">
                <a:solidFill>
                  <a:srgbClr val="A0522D"/>
                </a:solidFill>
                <a:latin typeface="Segoe UI"/>
              </a:defRPr>
            </a:pPr>
            <a:r>
              <a:t>ZERO-TRAINING CONSENSUS</a:t>
            </a:r>
          </a:p>
          <a:p>
            <a:pPr>
              <a:spcAft>
                <a:spcPts val="800"/>
              </a:spcAft>
              <a:defRPr sz="1200" b="1">
                <a:solidFill>
                  <a:srgbClr val="1E130B"/>
                </a:solidFill>
                <a:latin typeface="Segoe UI"/>
              </a:defRPr>
            </a:pPr>
            <a:r>
              <a:t>Mutual Inhibition</a:t>
            </a:r>
          </a:p>
          <a:p>
            <a:pPr>
              <a:defRPr sz="880">
                <a:solidFill>
                  <a:srgbClr val="5C4E44"/>
                </a:solidFill>
                <a:latin typeface="Segoe UI"/>
              </a:defRPr>
            </a:pPr>
            <a:r>
              <a:t>Analytical inhibitory dynamics eliminate non-convergent Multi-Agent PPO training fragility, guaranteeing deterministic 0.0% overkill allocation in 1.10 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98694" y="1536192"/>
            <a:ext cx="1993392" cy="73152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82281" y="1536192"/>
            <a:ext cx="1993392" cy="38862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2800" b="1">
                <a:solidFill>
                  <a:srgbClr val="8B4513"/>
                </a:solidFill>
                <a:latin typeface="Segoe UI"/>
              </a:defRPr>
            </a:pPr>
            <a:r>
              <a:t>04</a:t>
            </a:r>
          </a:p>
          <a:p>
            <a:pPr>
              <a:spcAft>
                <a:spcPts val="400"/>
              </a:spcAft>
              <a:defRPr sz="800" b="1">
                <a:solidFill>
                  <a:srgbClr val="A0522D"/>
                </a:solidFill>
                <a:latin typeface="Segoe UI"/>
              </a:defRPr>
            </a:pPr>
            <a:r>
              <a:t>SIZE INVARIANCE</a:t>
            </a:r>
          </a:p>
          <a:p>
            <a:pPr>
              <a:spcAft>
                <a:spcPts val="800"/>
              </a:spcAft>
              <a:defRPr sz="1200" b="1">
                <a:solidFill>
                  <a:srgbClr val="1E130B"/>
                </a:solidFill>
                <a:latin typeface="Segoe UI"/>
              </a:defRPr>
            </a:pPr>
            <a:r>
              <a:t>Permutation Equivariance</a:t>
            </a:r>
          </a:p>
          <a:p>
            <a:pPr>
              <a:defRPr sz="880">
                <a:solidFill>
                  <a:srgbClr val="5C4E44"/>
                </a:solidFill>
                <a:latin typeface="Segoe UI"/>
              </a:defRPr>
            </a:pPr>
            <a:r>
              <a:t>Neighborhood aggregation operates over local peer sets N_i, enabling instant deployment across 3, 4, 8, or 20 agents without retraining or shape errors.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82281" y="1536192"/>
            <a:ext cx="1993392" cy="73152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5868" y="1536192"/>
            <a:ext cx="1993392" cy="3886200"/>
          </a:xfrm>
          <a:prstGeom prst="roundRect">
            <a:avLst/>
          </a:prstGeom>
          <a:solidFill>
            <a:srgbClr val="F3ECE3"/>
          </a:solidFill>
          <a:ln w="15240">
            <a:solidFill>
              <a:srgbClr val="CBBB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rIns="146304" tIns="128016"/>
          <a:lstStyle/>
          <a:p>
            <a:pPr algn="ctr">
              <a:defRPr sz="2800" b="1">
                <a:solidFill>
                  <a:srgbClr val="8B4513"/>
                </a:solidFill>
                <a:latin typeface="Segoe UI"/>
              </a:defRPr>
            </a:pPr>
            <a:r>
              <a:t>05</a:t>
            </a:r>
          </a:p>
          <a:p>
            <a:pPr>
              <a:spcAft>
                <a:spcPts val="400"/>
              </a:spcAft>
              <a:defRPr sz="800" b="1">
                <a:solidFill>
                  <a:srgbClr val="A0522D"/>
                </a:solidFill>
                <a:latin typeface="Segoe UI"/>
              </a:defRPr>
            </a:pPr>
            <a:r>
              <a:t>DYNAMIC FAULT TOLERANCE</a:t>
            </a:r>
          </a:p>
          <a:p>
            <a:pPr>
              <a:spcAft>
                <a:spcPts val="800"/>
              </a:spcAft>
              <a:defRPr sz="1200" b="1">
                <a:solidFill>
                  <a:srgbClr val="1E130B"/>
                </a:solidFill>
                <a:latin typeface="Segoe UI"/>
              </a:defRPr>
            </a:pPr>
            <a:r>
              <a:t>50 ms Attrition Failover</a:t>
            </a:r>
          </a:p>
          <a:p>
            <a:pPr>
              <a:defRPr sz="880">
                <a:solidFill>
                  <a:srgbClr val="5C4E44"/>
                </a:solidFill>
                <a:latin typeface="Segoe UI"/>
              </a:defRPr>
            </a:pPr>
            <a:r>
              <a:t>Mid-air casualty of lead agent a_0 triggers immediate autonomous role reallocation in a single 50 ms flight cycle, maintaining 100% target coverage.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5868" y="1536192"/>
            <a:ext cx="1993392" cy="73152"/>
          </a:xfrm>
          <a:prstGeom prst="roundRect">
            <a:avLst/>
          </a:prstGeom>
          <a:solidFill>
            <a:srgbClr val="8B4513"/>
          </a:solidFill>
          <a:ln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5559552"/>
            <a:ext cx="10728655" cy="841248"/>
          </a:xfrm>
          <a:prstGeom prst="roundRect">
            <a:avLst/>
          </a:prstGeom>
          <a:solidFill>
            <a:srgbClr val="1E130B"/>
          </a:solidFill>
          <a:ln w="19050">
            <a:solidFill>
              <a:srgbClr val="8B4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09728"/>
          <a:lstStyle/>
          <a:p>
            <a:pPr algn="ctr">
              <a:defRPr sz="1050" b="1">
                <a:solidFill>
                  <a:srgbClr val="8B4513"/>
                </a:solidFill>
                <a:latin typeface="Segoe UI"/>
              </a:defRPr>
            </a:pPr>
            <a:r>
              <a:t>EXECUTIVE CONCLUSION: MISSION-READY EDGE SWARM AUTONOMY</a:t>
            </a:r>
          </a:p>
          <a:p>
            <a:pPr>
              <a:defRPr sz="900">
                <a:solidFill>
                  <a:srgbClr val="FFFFFF"/>
                </a:solidFill>
                <a:latin typeface="Segoe UI"/>
              </a:defRPr>
            </a:pPr>
            <a:r>
              <a:t>The integrated GAT + Mutual Inhibition guidance architecture replaces fragile centralized links with robust ad-hoc autonomy. Fully verified via kinematic simulation: 100% intercept success, 0.0% overkill, and sub-2 ms edge decision latency.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